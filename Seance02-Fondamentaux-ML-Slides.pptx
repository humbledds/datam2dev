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9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83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Fondamentaux du Machine Learning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2 - Concepts Essentiels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 - M2 DEV G1 - EFREI Paris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Rappel Séance 1: Concepts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20040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Imite les fonctions cognitives humaines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828800" cy="320040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par 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320040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6002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de neurones profonds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1097280"/>
            <a:ext cx="1828800" cy="320040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Jupyter,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Séance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377440" cy="320040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Magistral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d'apprentissage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377440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en 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377440" cy="3200400"/>
          </a:xfrm>
          <a:prstGeom prst="rect">
            <a:avLst/>
          </a:prstGeom>
          <a:solidFill>
            <a:srgbClr val="E945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Titanic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Pédagogiques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Comprendre les 3 types d'apprentissage automatique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Maîtriser régression linéaire, k-NN, et SVM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Interpréter les métriques d'évaluation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Identifier l'overfitting vs l'underfitting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Implémenter et valider un modèle complet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Types d'Apprentissage Automatique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d'ensemble: Les 3 Types d'Apprentissage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Supervisé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+ Étiquettes → Modèle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Prédire le prix d'une maison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5603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Non-Supervisé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56032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seules → Patterns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Segmentation clients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508760"/>
            <a:ext cx="256032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20116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Env → Récompense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Robot apprend à marcher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Apprentissage Supervisé: Processus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371600" cy="457200"/>
          </a:xfrm>
          <a:prstGeom prst="rect">
            <a:avLst/>
          </a:prstGeom>
          <a:solidFill>
            <a:srgbClr val="3498DB"/>
          </a:solidFill>
          <a:ln w="254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234440"/>
            <a:ext cx="182880" cy="182880"/>
          </a:xfrm>
          <a:prstGeom prst="rightArrow">
            <a:avLst/>
          </a:prstGeom>
          <a:solidFill>
            <a:srgbClr val="0F3460"/>
          </a:solidFill>
          <a:ln/>
        </p:spPr>
      </p:sp>
      <p:sp>
        <p:nvSpPr>
          <p:cNvPr id="7" name="Shape 5"/>
          <p:cNvSpPr/>
          <p:nvPr/>
        </p:nvSpPr>
        <p:spPr>
          <a:xfrm>
            <a:off x="2240280" y="1097280"/>
            <a:ext cx="1371600" cy="457200"/>
          </a:xfrm>
          <a:prstGeom prst="rect">
            <a:avLst/>
          </a:prstGeom>
          <a:solidFill>
            <a:srgbClr val="3498DB"/>
          </a:solidFill>
          <a:ln w="254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03320" y="1234440"/>
            <a:ext cx="182880" cy="182880"/>
          </a:xfrm>
          <a:prstGeom prst="rightArrow">
            <a:avLst/>
          </a:prstGeom>
          <a:solidFill>
            <a:srgbClr val="0F3460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1097280"/>
            <a:ext cx="1371600" cy="457200"/>
          </a:xfrm>
          <a:prstGeom prst="rect">
            <a:avLst/>
          </a:prstGeom>
          <a:solidFill>
            <a:srgbClr val="3498DB"/>
          </a:solidFill>
          <a:ln w="254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182880" cy="182880"/>
          </a:xfrm>
          <a:prstGeom prst="rightArrow">
            <a:avLst/>
          </a:prstGeom>
          <a:solidFill>
            <a:srgbClr val="0F3460"/>
          </a:solidFill>
          <a:ln/>
        </p:spPr>
      </p:sp>
      <p:sp>
        <p:nvSpPr>
          <p:cNvPr id="13" name="Shape 11"/>
          <p:cNvSpPr/>
          <p:nvPr/>
        </p:nvSpPr>
        <p:spPr>
          <a:xfrm>
            <a:off x="5623560" y="1097280"/>
            <a:ext cx="1371600" cy="457200"/>
          </a:xfrm>
          <a:prstGeom prst="rect">
            <a:avLst/>
          </a:prstGeom>
          <a:solidFill>
            <a:srgbClr val="3498DB"/>
          </a:solidFill>
          <a:ln w="254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234440"/>
            <a:ext cx="182880" cy="182880"/>
          </a:xfrm>
          <a:prstGeom prst="rightArrow">
            <a:avLst/>
          </a:prstGeom>
          <a:solidFill>
            <a:srgbClr val="0F346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1097280"/>
            <a:ext cx="1371600" cy="457200"/>
          </a:xfrm>
          <a:prstGeom prst="rect">
            <a:avLst/>
          </a:prstGeom>
          <a:solidFill>
            <a:srgbClr val="3498DB"/>
          </a:solidFill>
          <a:ln w="254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286000"/>
            <a:ext cx="8229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423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d'Emails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278892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mots, expéditeur, longueur, domaine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Spam (1) ou Non-Spam (0)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Objectif: Entraîner un modèle qui prédit automatiquement si un email est spam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vs Régression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Sortie: {0, 1, ..., K}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ou Chien?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Spam ou non?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Malade ou sain?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Métriques: Accuracy, F1, Precision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valeur continue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Sortie: ℝ (nombres réels)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Prix maison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Température demain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Ventes futures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Métriques: MSE, MAE, R²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Apprentissage Non-Supervisé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(K-Means)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188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des éléments similaires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dimension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données anormales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Apprentissage par Renforcement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463040"/>
            <a:ext cx="365760" cy="36576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600200"/>
            <a:ext cx="1946366" cy="91440"/>
          </a:xfrm>
          <a:prstGeom prst="rightArrow">
            <a:avLst/>
          </a:prstGeom>
          <a:solidFill>
            <a:srgbClr val="0F3460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1" y="1258933"/>
            <a:ext cx="1280159" cy="773974"/>
          </a:xfrm>
          <a:prstGeom prst="ellipse">
            <a:avLst/>
          </a:prstGeom>
          <a:solidFill>
            <a:srgbClr val="27AE60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399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581912"/>
            <a:ext cx="1097280" cy="91440"/>
          </a:xfrm>
          <a:prstGeom prst="rightArrow">
            <a:avLst/>
          </a:prstGeom>
          <a:solidFill>
            <a:srgbClr val="0F3460"/>
          </a:solidFill>
          <a:ln/>
        </p:spPr>
      </p:sp>
      <p:sp>
        <p:nvSpPr>
          <p:cNvPr id="10" name="Shape 8"/>
          <p:cNvSpPr/>
          <p:nvPr/>
        </p:nvSpPr>
        <p:spPr>
          <a:xfrm>
            <a:off x="7262949" y="1128631"/>
            <a:ext cx="1058091" cy="1089442"/>
          </a:xfrm>
          <a:prstGeom prst="ellipse">
            <a:avLst/>
          </a:prstGeom>
          <a:solidFill>
            <a:srgbClr val="E94560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371600"/>
            <a:ext cx="4572000" cy="914400"/>
          </a:xfrm>
          <a:prstGeom prst="arc">
            <a:avLst/>
          </a:prstGeom>
          <a:ln w="254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AlphaGo: 99.8% winrate contre professionnels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Robot aspirateur: navigation autonome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Trading automatique: optimisation de stratégies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Algorithmes Fondamentaux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Régression Linéaire: Intuition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Analogie: Tracer la meilleure ligne droite à travers un nuage de 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2194560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" name="Shape 4"/>
          <p:cNvSpPr/>
          <p:nvPr/>
        </p:nvSpPr>
        <p:spPr>
          <a:xfrm>
            <a:off x="2651760" y="2468880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2743200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3017520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Shape 7"/>
          <p:cNvSpPr/>
          <p:nvPr/>
        </p:nvSpPr>
        <p:spPr>
          <a:xfrm>
            <a:off x="5394960" y="3291840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2148840"/>
            <a:ext cx="4023360" cy="128016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concret: Surface (m²) → Prix (€)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surface augmente, plus le prix augmente.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relation linéaire peut être exprimée par une équation simple.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Régression Linéaire: Équation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β₁x₁ + β₂x₂ + ... + βₚxₚ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37160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56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8562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prédite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37160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21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2219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(ordonnée à l'origine)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87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β₁, β₂, 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877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de régression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37160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53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x₁, x₂, 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953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d'entrée (features)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= 50000 + 3500 × Surface + 15000 × Nb_Chambres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3500 signifie: +1 m² = +3500€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Régression Linéaire: Visualisation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immobilier vs Surface (Île-de-France)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346704"/>
            <a:ext cx="960120" cy="1042416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40m²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3017520"/>
            <a:ext cx="960120" cy="1371600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633472"/>
            <a:ext cx="960120" cy="1755648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80m²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2304288"/>
            <a:ext cx="960120" cy="2084832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2029968"/>
            <a:ext cx="960120" cy="2359152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700784"/>
            <a:ext cx="960120" cy="2688336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140m²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k-NN (k-Nearest Neighbors): Intuition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Analogie: "Dis-moi qui sont tes voisins, je te dirai qui tu es!"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classer un nouveau point: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Trouver les k points les plus proches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Vote majoritaire parmi ces k points</a:t>
            </a:r>
            <a:endParaRPr lang="en-US" sz="11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53FC463-66F6-3CEF-1E58-ECEA929E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954" y="1854926"/>
            <a:ext cx="3154680" cy="26951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k-NN: Effet du Paramètre 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k sur la Précision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629814"/>
            <a:ext cx="914400" cy="1850746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0" y="2569464"/>
            <a:ext cx="914400" cy="1911096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150876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97480" y="2529230"/>
            <a:ext cx="914400" cy="1951330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2549347"/>
            <a:ext cx="914400" cy="1931213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2569464"/>
            <a:ext cx="914400" cy="1911096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k=9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9698"/>
            <a:ext cx="914400" cy="1870862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2710282"/>
            <a:ext cx="914400" cy="1770278"/>
          </a:xfrm>
          <a:prstGeom prst="rect">
            <a:avLst/>
          </a:prstGeom>
          <a:solidFill>
            <a:srgbClr val="3498DB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2743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109" y="162397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k=1: Très sensible au bruit → Overfitting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2109" y="191658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k=5: Bon compromis → Recommandé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2109" y="220919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k=25: Trop lisse → Underfitting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k-NN: Frontière de Décision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irrégulière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lisse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généralisation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Astuce: Choisir k impair pour éviter les égalités</a:t>
            </a:r>
            <a:endParaRPr lang="en-US" sz="11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0BAD446-A5EF-50CB-D6DF-3821962B4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866" y="1687453"/>
            <a:ext cx="2245878" cy="19701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Comparaison des Algorithmes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interprétable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linéaires seulement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21488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Classification/Régression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pas d'entraînement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 sur gros datasets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3154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généralisation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kernel, lent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Évaluer son Modèle: Métriques &amp; Validation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75FD5E-280E-7434-5DAF-34B023429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78" y="652491"/>
            <a:ext cx="8636444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06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les Métriques sont Essentielles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n'a de valeur que s'il est correctement évalué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solidFill>
            <a:srgbClr val="FFF3CD"/>
          </a:solidFill>
          <a:ln w="25400">
            <a:solidFill>
              <a:srgbClr val="E67E22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 Détection de Cancer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Modèle: 99% d'Accuracy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Mais rate 50% des cancers!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L'Accuracy SEULE peut être TROMPEUSE avec des classes déséquilibrées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de Confusion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188720"/>
            <a:ext cx="1097280" cy="1097280"/>
          </a:xfrm>
          <a:prstGeom prst="rect">
            <a:avLst/>
          </a:prstGeom>
          <a:solidFill>
            <a:srgbClr val="27AE60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1097280" cy="1097280"/>
          </a:xfrm>
          <a:prstGeom prst="rect">
            <a:avLst/>
          </a:prstGeom>
          <a:solidFill>
            <a:srgbClr val="E67E22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2377440"/>
            <a:ext cx="1097280" cy="1097280"/>
          </a:xfrm>
          <a:prstGeom prst="rect">
            <a:avLst/>
          </a:prstGeom>
          <a:solidFill>
            <a:srgbClr val="E94560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17520" y="2377440"/>
            <a:ext cx="1097280" cy="1097280"/>
          </a:xfrm>
          <a:prstGeom prst="rect">
            <a:avLst/>
          </a:prstGeom>
          <a:solidFill>
            <a:srgbClr val="27AE60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Prédiction: Positif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188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Réel: Positif | Réel: Négatif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547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Faux Positif: Test dit 'malade' mais patient sain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Faux Négatif: Test dit 'sain' mais patient malade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Métriques de 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46304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(TP+TN)/Total = 92%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vue d'ensemble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114800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00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TP/(TP+FP) = 90%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positifs prédits, vrais positifs?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114800" cy="1463040"/>
          </a:xfrm>
          <a:prstGeom prst="rect">
            <a:avLst/>
          </a:prstGeom>
          <a:solidFill>
            <a:srgbClr val="E945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 = 93.75%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vrais positifs, trouvés?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411480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246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2×(P×R)/(P+R) = 91.8%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Precision-Recall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 Utiliser Quelle Métrique?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de bloquer des vrais emails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rater aucun cas positif!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Équilibrées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et représentative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3703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Équilibré et robuste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Métriques de Régression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(1/n)Σ(yi-ŷi)²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grandes erreurs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352044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(1/n)Σ|yi-ŷi|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robuste aux outliers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743200" cy="3474720"/>
          </a:xfrm>
          <a:prstGeom prst="rect">
            <a:avLst/>
          </a:prstGeom>
          <a:solidFill>
            <a:srgbClr val="E945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1-(SS_res/SS_tot)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R²=0.85 → explique 85%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Croisée (k-fold)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146304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1463040" cy="320040"/>
          </a:xfrm>
          <a:prstGeom prst="rect">
            <a:avLst/>
          </a:prstGeom>
          <a:solidFill>
            <a:srgbClr val="E945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146304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188720"/>
            <a:ext cx="146304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365760" cy="2286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1737360"/>
            <a:ext cx="365760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Utilise toutes les données pour train et 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Estimation plus fiable de la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Idéal pour petits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Score final = moyenne des k scores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 vs Underfitting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6126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d'Entraînement vs Test (Complexité Croissante)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731520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78508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55064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87168" y="2395728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2313432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15968" y="2807208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15968" y="2724912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44768" y="3012948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4768" y="2601468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973568" y="3136392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9" name="Shape 17"/>
          <p:cNvSpPr/>
          <p:nvPr/>
        </p:nvSpPr>
        <p:spPr>
          <a:xfrm>
            <a:off x="7973568" y="1984248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109728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Error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109728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109728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1" y="3975681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Underfitting: Modèle trop simple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Plus de features, modèle complexe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55772" y="40534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Modèle trop complexe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Plus de données, régularisation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90672" y="42088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Bon compromis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Biais-Variance Tradeoff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Totale = Biais² + Variance + Erreur Irréductible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926080"/>
          </a:xfrm>
          <a:prstGeom prst="rect">
            <a:avLst/>
          </a:prstGeom>
          <a:solidFill>
            <a:srgbClr val="3498DB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Élevé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560320" cy="2926080"/>
          </a:xfrm>
          <a:prstGeom prst="rect">
            <a:avLst/>
          </a:prstGeom>
          <a:solidFill>
            <a:srgbClr val="27AE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généralisation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554480"/>
            <a:ext cx="2560320" cy="2926080"/>
          </a:xfrm>
          <a:prstGeom prst="rect">
            <a:avLst/>
          </a:prstGeom>
          <a:solidFill>
            <a:srgbClr val="E94560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Élevée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2057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complexe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 Pratique</a:t>
            </a:r>
            <a:endParaRPr lang="en-US" sz="4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Démo: Régression Linéaire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560320" cy="118872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150.5 €/m²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2560320" cy="118872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(85%)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017520"/>
            <a:ext cx="2560320" cy="118872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85% variance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Démo: k-NN Classification (Iris Dataset)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KNeighborsClassifier(n_neighbors=5)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model.score(X_test, y_test)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96% | F1: 0.96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1188720"/>
            <a:ext cx="3291840" cy="274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0" y="335221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9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984172" y="3337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9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0" y="176842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9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Interprétation des Résultats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234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50 fleurs test, 48 bien classées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de la variation des prix expliquée par la surface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bon entre precision et recall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Toujours contextualiser les métriques!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Pratique - Dataset Titanic</a:t>
            </a:r>
            <a:endParaRPr lang="en-US" sz="4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Dataset Titanic: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54480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1554480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1097280"/>
            <a:ext cx="1554480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1554480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097280"/>
            <a:ext cx="1554480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16213E"/>
            </a:solidFill>
            <a:prstDash val="solid"/>
          </a:ln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Survie par Classe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833165"/>
            <a:ext cx="1645920" cy="921715"/>
          </a:xfrm>
          <a:prstGeom prst="rect">
            <a:avLst/>
          </a:prstGeom>
          <a:solidFill>
            <a:srgbClr val="27AE6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80160" y="401604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5120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Classe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0" y="4067251"/>
            <a:ext cx="1645920" cy="687629"/>
          </a:xfrm>
          <a:prstGeom prst="rect">
            <a:avLst/>
          </a:prstGeom>
          <a:solidFill>
            <a:srgbClr val="27AE6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4250131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5120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Classe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4403750"/>
            <a:ext cx="1645920" cy="351130"/>
          </a:xfrm>
          <a:prstGeom prst="rect">
            <a:avLst/>
          </a:prstGeom>
          <a:solidFill>
            <a:srgbClr val="27AE6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52160" y="458663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5120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 Classe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Partie 1: Exploration &amp;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15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pd.read_csv('titanic.csv')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20040" cy="3200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7099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head(), info(), describe()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NaN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3042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pour Age, mode pour Embarked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8986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→ 0/1, One-Hot Embarked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93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493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 20% test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Partie 2: Modélisation &amp; Comparaison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(k=5)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Entraîner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Évaluer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Entraîner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Évaluer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Métriques: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291840"/>
            <a:ext cx="182880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291840"/>
            <a:ext cx="182880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291840"/>
            <a:ext cx="182880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0.83/0.84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2316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0.81/0.82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0.79/0.85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0.83/0.79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Critères de Rendu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69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d'exploration + visualisations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270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complet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842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 entraînés et évalués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414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tableau de métriques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986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Markdown explicatifs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55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Délai: fin de séance (17h30)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Récapitulatif: Points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7160" cy="1371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types d'apprentissage: Supervisé, Non-supervisé, Renforcement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fondamentaux: Régression Linéaire, k-NN, 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d'évaluation: Accuracy, Precision, Recall, F1, MSE, 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37160" cy="1371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k-fold cross-validation, train/test split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137160" cy="1371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dilemme Biais-Variance: overfitting vs underfitting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séance: Techniques Avancées &amp; Deep Learning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Questions?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1464</Words>
  <Application>Microsoft Office PowerPoint</Application>
  <PresentationFormat>Affichage à l'écran (16:9)</PresentationFormat>
  <Paragraphs>409</Paragraphs>
  <Slides>39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Courier New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Babacar Gueye</cp:lastModifiedBy>
  <cp:revision>10</cp:revision>
  <dcterms:created xsi:type="dcterms:W3CDTF">2026-03-23T20:01:55Z</dcterms:created>
  <dcterms:modified xsi:type="dcterms:W3CDTF">2026-03-24T10:13:18Z</dcterms:modified>
</cp:coreProperties>
</file>