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4123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828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/ ML / Deep Learning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 &amp;</a:t>
            </a:r>
            <a:endParaRPr lang="en-US" sz="4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par Ordinateur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383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et utiliser les réseaux de neurones et le Transfer Learning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00400" y="4114800"/>
            <a:ext cx="274320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Babacar GUEYE  •  M2 DEV G1  •  EFREI Paris  •  2025-2026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Objectifs de la séance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formules compliquées — on se concentre sur comprendre et utiliser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36192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46304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ce qu'est le Deep Learning et où on le retrouve (ChatGPT, reconnaissance faciale...)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224028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 construire un réseau de neurones avec Keras en quelques lignes de code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90672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301752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pourquoi les CNN sont utilisés pour les images (et comment les utiliser)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67912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840" y="379476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le Transfer Learning pour avoir des résultats pro avec très peu de données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731520"/>
            <a:ext cx="1371600" cy="137160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058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Partie 1 : C'est quoi le Deep Learning ?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exemples concrets que vous utilisez déjà tous les jours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Deep Learning est partout autour de vous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l'utilisez chaque jour, sans le savoir. Voici quelques exemples 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621792"/>
          </a:xfrm>
          <a:prstGeom prst="rect">
            <a:avLst/>
          </a:prstGeom>
          <a:solidFill>
            <a:srgbClr val="F0F7F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9844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15727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du texte grâce à des réseaux de neurones profonds (Transformers) entraînés sur des milliards de textes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1993392"/>
            <a:ext cx="8412480" cy="62179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84832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01168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/ Midjourney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97280" y="22860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des images à partir d'une description textuelle, en utilisant des réseaux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convolutifs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génératifs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(CNN)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2706624"/>
            <a:ext cx="8412480" cy="621792"/>
          </a:xfrm>
          <a:prstGeom prst="rect">
            <a:avLst/>
          </a:prstGeom>
          <a:solidFill>
            <a:srgbClr val="F0F7F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98064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72491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 / Instagram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97280" y="29992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faciale, filtres en temps réel : des CNN qui détectent et analysent les visages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65760" y="3419856"/>
            <a:ext cx="8412480" cy="62179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511296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43814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Autopilot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097280" y="371246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CNN traitent les images des caméras pour détecter routes, piétons, panneaux et prendre des décisions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65760" y="4133088"/>
            <a:ext cx="8412480" cy="621792"/>
          </a:xfrm>
          <a:prstGeom prst="rect">
            <a:avLst/>
          </a:prstGeom>
          <a:solidFill>
            <a:srgbClr val="F0F7FA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224528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97280" y="415137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/ YouTube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097280" y="442569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par image, recommandations vidéo, sous-titres automatiques : tout est du Deep Learning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IA, Machine Learning, Deep Learning : quelles différences 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005840"/>
            <a:ext cx="6400800" cy="384048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417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système qui simule un comportement intelligent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1828800"/>
            <a:ext cx="4937760" cy="2743200"/>
          </a:xfrm>
          <a:prstGeom prst="ellipse">
            <a:avLst/>
          </a:prstGeom>
          <a:solidFill>
            <a:srgbClr val="93C5FD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2286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 à partir de données (sans être programmé explicitement)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2743200"/>
            <a:ext cx="3291840" cy="1645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3246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 de neurones à plusieurs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couches, très puissants sur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texte, audio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fonctionne un réseau de neurones 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Voici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l'idée générale 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7160" y="1371600"/>
            <a:ext cx="1600200" cy="1280160"/>
          </a:xfrm>
          <a:prstGeom prst="rect">
            <a:avLst/>
          </a:prstGeom>
          <a:solidFill>
            <a:srgbClr val="E2E8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" y="14173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d'entrée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" y="20116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image,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texte...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6459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965960" y="1371600"/>
            <a:ext cx="1600200" cy="1280160"/>
          </a:xfrm>
          <a:prstGeom prst="rect">
            <a:avLst/>
          </a:prstGeom>
          <a:solidFill>
            <a:srgbClr val="93C5F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14173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(basique)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65960" y="20116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des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motifs simples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16459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794760" y="1371600"/>
            <a:ext cx="1600200" cy="1280160"/>
          </a:xfrm>
          <a:prstGeom prst="rect">
            <a:avLst/>
          </a:prstGeom>
          <a:solidFill>
            <a:srgbClr val="3B82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94760" y="14173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(interm.)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94760" y="20116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motifs simples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16459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623560" y="1371600"/>
            <a:ext cx="1600200" cy="128016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23560" y="14173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3+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(complexe)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23560" y="20116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 des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abstraits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78040" y="16459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452360" y="1371600"/>
            <a:ext cx="1600200" cy="1280160"/>
          </a:xfrm>
          <a:prstGeom prst="rect">
            <a:avLst/>
          </a:prstGeom>
          <a:solidFill>
            <a:srgbClr val="05966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52360" y="141732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(sortie)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52360" y="20116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c'est un chat »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positif »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926080"/>
            <a:ext cx="8412480" cy="19202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01752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choses à retenir 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 réseau apprend tout seul à partir d'exemples. On lui donne des milliers d'images étiquetées (« chat », « chien ») et il apprend à les distinguer.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Plus il y a de couches, plus il peut apprendre des choses complexes. C'est pour ça qu'on dit « deep » (profond).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On n'a pas besoin de coder l'algorithme : des librairies comme Keras/TensorFlow font tout le travail. On définit juste l'architecture et les données.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Construire un réseau en 5 lignes avec Keras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est une librairie Python qui rend le Deep Learning accessible. Voici tout ce qu'il faut pour reconnaître des chiffres 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2926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Créer le modèle (comme empiler des LEGO)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Sequential([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Dense(128, activation='relu'),    # couche cachée (128 neurones)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Dense(10, activation='softmax')    # sortie (10 classes : chiffres 0-9)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Dire au modèle comment apprendre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model.compile(optimizer='adam', loss='categorical_crossentropy')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Lancer l'entraînement !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y_train, epochs=15)   # → 97% de précision !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tout !</a:t>
            </a: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Keras s'occupe de la descente de gradient, de la rétropropagation, de l'optimisation... Vous, vous choisissez juste les couches et les données.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choix importants quand on crée un modèle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n'avez pas besoin de tout calculer — mais il faut comprendre ce que chaque choix implique.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8595360" cy="24536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C'est quoi 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par défaut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Conseil pratique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 couches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Combien de niveaux de traitement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 couches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Commencez simple, ajoutez si ça ne suffit pas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 neurones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Capacité de chaque couche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64, 128, 256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= plus puissant mais plus lent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Combien de fois le modèle voit les données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 = le modèle « triche » (overfitting)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d'exemples traités ensemble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ou 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est un bon défaut pour commencer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L'algorithme qui ajuste les poids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Utilisez Adam, il marche bien partout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840480"/>
            <a:ext cx="8412480" cy="7315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886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= le modèle a « mémorisé » les données d'entraînement au lieu d'apprendre des règles générales. C'est comme un étudiant qui apprend les réponses par cœur sans comprendre le cours — il échoue à l'examen si les questions changent un peu.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731520"/>
            <a:ext cx="1371600" cy="137160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058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Partie 2 : Les CNN pour les images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et comment utiliser les réseaux convolutifs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les CNN pour les images 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114800" cy="2560320"/>
          </a:xfrm>
          <a:prstGeom prst="rect">
            <a:avLst/>
          </a:prstGeom>
          <a:solidFill>
            <a:srgbClr val="FEF2F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classique sur images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que tu découpes une photo en pixels et que tu les mélanges dans un sac 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 perds toute la structure spatiale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 réseau ne sait pas que des pixels voisins sont liés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Trop de paramètres (19M+ pour une seule couche !)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Résultats médiocres sur les images réelles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114800" cy="2560320"/>
          </a:xfrm>
          <a:prstGeom prst="rect">
            <a:avLst/>
          </a:prstGeom>
          <a:solidFill>
            <a:srgbClr val="ECFD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(Réseau Convolutif)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CNN regarde l'image comme vous : par régions 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 petit filtre glisse sur l'image et détecte des motifs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Il garde la structure spatiale (qui est à côté de quoi)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Beaucoup moins de paramètres (partage des filtres)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Utilisé par Google, Apple, Tesla, Meta...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794760"/>
            <a:ext cx="8412480" cy="10515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4048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Analogie « Où est Charlie ? » : </a:t>
            </a: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réseau classique regarderait chaque pixel indépendamment. Un CNN fait comme vous : il a un « gabarit » de Charlie qu'il fait glisser sur toute l'image pour trouver où il se cache. C'est beaucoup plus efficace !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fonctionne un CNN, en image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CNN traite l'image en 3 étapes principales, comme une chaîne de montage 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71907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petit filtre (3×3 pixels) glisse sur l'image. À chaque position, il calcule un score de « ressemblance » avec un motif (bord, texture...). Le résultat : une « carte de features » qui montre où se trouvent ces motifs.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06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1635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réduit la taille de la carte : pour chaque petit carré (2×2), on garde juste la valeur la plus forte. Ça rend le modèle plus rapide et plus robuste aux petites variations (légers décalages, rotations).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594360" cy="5943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703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91363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plusieurs tours de convolution + pooling, on aplatit le résultat et on le passe dans des couches denses classiques pour obtenir la prédiction finale (« c'est un chat »).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37409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retenir : les premières couches détectent des choses simples (bords, couleurs). Les couches profondes détectent des choses complexes (yeux, roues, visages).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CNN en code Keras — c'est simple !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CNN complet pour classifier des images 32×32 en 10 catégories (ex: CIFAR-10) 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3108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Sequential([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Bloc 1 : détecter des motifs simples (bords, textures)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Conv2D(32, (3,3), activation='relu', input_shape=(32,32,3)),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MaxPooling2D(2,2),           # réduire la taille par 2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Bloc 2 : détecter des motifs plus complexes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Conv2D(64, (3,3), activation='relu'),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MaxPooling2D(2,2),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Classification finale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Flatten(),                    # aplatir en vecteur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Dense(128, activation='relu'), # couche dense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Dense(10, activation='softmax') # 10 classes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11480" y="4395651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attendu : ~75-80% de précision. On peut faire beaucoup mieux avec le Transfer Learning (slide suivante) 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731520"/>
            <a:ext cx="1371600" cy="137160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058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Partie 3 : Transfer Learning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technique n°1 des professionnels : réutiliser au lieu de recréer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Learning : la technique qui change tout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137160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51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suffisent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 lieu de 10 000+)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005840"/>
            <a:ext cx="2651760" cy="137160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46120" y="1051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46120" y="16916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d'entraînement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 lieu de 1h+)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2651760" cy="137160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051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126480" y="16916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précision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 lieu de ~70%)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8412480" cy="22860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91344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marche ?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chercheurs ont déjà entraîné des modèles énormes sur des millions d'images (ImageNet). Ces modèles ont appris à « voir » : détecter des bords, des textures, des formes, des objets...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 Transfer Learning, on prend ce modèle déjà entraîné et on le « recycle » pour notre propre tâche. C'est comme embaucher un photographe expérimenté et lui demander de se spécialiser dans un nouveau domaine — il a déjà les bases !</a:t>
            </a:r>
            <a:endParaRPr lang="en-US" sz="15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pratique : on garde les couches convolutives (qui savent déjà « voir ») et on remplace juste la dernière couche pour l'adapter à nos classes (ex: chat vs chien au lieu de 1000 classes).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Learning en code : c'est 5 lignes !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3200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tensorflow.keras.applications import MobileNetV2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Charger le modèle pré-entraîné (sans la dernière couche)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base_model = MobileNetV2(weights='imagenet', include_top=False)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base_model.trainable = False   # Geler : ne pas toucher aux poids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Ajouter notre propre classifieur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Sequential([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base_model,                      # le « cerveau » pré-entraîné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GlobalAveragePooling2D(),         # réduire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Dense(3, activation='softmax')    # 3 classes perso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Entraîner (seulement la dernière couche !)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model.fit(mes_images, mes_labels, epochs=10)  # 90%+ !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2976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pré-entraînés populaires : MobileNet (rapide, léger), VGG16 (simple), ResNet50 (performant), EfficientNet (meilleur ratio). Tous disponibles dans keras.applications.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niveaux de Transfer Learning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la quantité de données que vous avez, choisissez l'approche adaptée 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4114800" cy="320040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25880"/>
            <a:ext cx="41148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25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(simple)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gèle tout le modèle pré-entraîné et on entraîne seulement la couche de sortie.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Rapide (2-5 min)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~200 images suffisent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 besoin de GPU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Parfait pour : petit dataset, prototypage rapide, ressources limitées.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4114800" cy="320040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25880"/>
            <a:ext cx="41148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325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(avancé)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dégèle les dernières couches et on ré-entraîne doucement tout le modèle.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Meilleurs résultats (+3-5% d'accuracy)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 modèle s'adapte à votre problème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Nécessite plus de données (1000+)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Parfait pour : dataset moyen, besoin de haute précision, GPU disponible.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modèles Deep Learning populaires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data scientists utilisent ces modèles au quotidien. Tous sont disponibles dans Keras (keras.applications) :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8595360" cy="30480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Créé par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 d'usage typique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Avantage clé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d'images, diagnostic médical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profond (50 couches) sans dégradation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 mobiles, IoT, temps réel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 léger, rapide sur téléphone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Meilleur ratio précision/vitesse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 (B0 à B7), état de l'art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(v8+)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Ultralytics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Détection d'objets en temps réel (vidéo, caméras)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Détecte ET localise en une passe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Univ. Freiburg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 (imagerie médicale, satellite)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Précis pixel par pixel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VGG-16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Oxford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Pédagogique, Transfer Learning simple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simple à comprendre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Diffusion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Stability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Génération d'images à partir de texte (DALL-E, Midjourney)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Créatif, open-source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Quel modèle choisir ? Guide pratique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en fonction de votre tâche, pas de la popularité du modèle 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24712"/>
            <a:ext cx="8595360" cy="62179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43000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Classifier des images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(chat/chien, produit, maladie)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017520" y="1143000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 ou ResNet-50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Transfer Learning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94960" y="1143000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élevée, beaucoup de modèles pré-entraînés disponibles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810512"/>
            <a:ext cx="85953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828800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App mobile / embarqué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(temps réel sur téléphone)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17520" y="1828800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ou V3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(TensorFlow Lite)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4960" y="1828800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Optimisé pour les appareils avec peu de mémoire et de puissance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496312"/>
            <a:ext cx="8595360" cy="62179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514600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Détecter des objets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(où est le chat dans la photo ?)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17520" y="2514600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(pip install ultralytics)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2514600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et localise en temps réel, idéal pour la vidéo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182112"/>
            <a:ext cx="85953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200400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Segmentation médicale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(contours d'une tumeur)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3200400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(avec augmentation de données)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3200400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au pixel, standard dans l'imagerie médicale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867912"/>
            <a:ext cx="8595360" cy="62179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886200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Générer des images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(créer à partir de texte)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17520" y="3886200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(Hugging Face diffusers)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3886200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personnalisable, qualité professionnelle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528892"/>
            <a:ext cx="8412480" cy="2743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560243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Conseil : commencez TOUJOURS par le Transfer Learning avec un modèle pré-entraîné avant de construire de zéro !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79669" y="731520"/>
            <a:ext cx="1371600" cy="137160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058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Partie 4 : Mise en pratique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 + atelier guidé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Démonstration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L'enseignant va montrer en live comment 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8412480" cy="96012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716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1 : Réseau simple sur MNIST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 des chiffres manuscrits avec un réseau dense basique. On verra comment les données entrent, comment le modèle apprend epoch par epoch, et on observera les courbes de performance.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0" y="1600200"/>
            <a:ext cx="91440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0" y="1600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84124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4688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2 : CNN sur Fashion MNIST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des vêtements (T-shirt, chaussures, sacs...) avec un Convolutional Neural Network. On comparera les résultats avec un réseau dense pour voir la différence.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0" y="2697480"/>
            <a:ext cx="91440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2697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8412480" cy="96012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566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3 : Transfer Learning avec MobileNet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8862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des images custom (ex: chats/chiens/oiseaux) avec seulement ~300 images. On verra le résultat spectaculaire du Transfer Learning.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0" y="3794760"/>
            <a:ext cx="91440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3794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490357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Suivez sur votre machine ! Les notebooks sont fournis dans le dossier de la séance.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Atelier — Exercice 1 : CNN sur Fashion MNIST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70 000 images de vêtements • 10 classes • Objectif : ≥ 90% de précision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07592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07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234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le dataset avec Keras et afficher quelques exemples pour comprendre les données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837944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379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76479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Normaliser les images (diviser par 255 pour avoir des valeurs entre 0 et 1)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368296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68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29514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CNN : 2 blocs Conv2D + MaxPooling, puis Dense + Softmax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898648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986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82549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avec optimizer='adam' et entraîner pendant 15-20 epochs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290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35584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les courbes de loss/accuracy et analyser : y a-t-il de l'overfitting 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959352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9593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3886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des exemples d'erreurs du modèle et essayer de comprendre pourquoi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507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Astuce : le notebook contient des cellules de code pré-remplies. Commencez par les exécuter, puis modifiez pour expérimenter.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Atelier — Exercice 2 : Transfer Learning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 dataset custom (3 classes, ~300 images). Montrez la puissance du Transfer Learning !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114800" cy="228600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411480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: Feature Extraction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Charger MobileNetV2 pré-entraîné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Geler toutes les couches (trainable = False)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Ajouter votre classifieur (Dense + Softmax)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Entraîner 10 epochs → objectif ≥ 80%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d'entraînement estimé : ~3 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4114800" cy="2286000"/>
          </a:xfrm>
          <a:prstGeom prst="rect">
            <a:avLst/>
          </a:prstGeom>
          <a:solidFill>
            <a:srgbClr val="F0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34440"/>
            <a:ext cx="411480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2344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: Fine-tuning (bonus)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Dégeler les 20 dernières couches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Baisser le learning rate à 1e-5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Entraîner 10 epochs de plus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Comparer les résultats avec la phase 1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typique : +3-5% d'accuracy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commenté avec code, courbes, comparaison des deux approches, et un paragraphe expliquant dans quel cas utiliser chaque méthode.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qu'il faut retenir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solidFill>
            <a:srgbClr val="F0F7F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7043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0241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Deep Learning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88720" y="13533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réseaux de neurones à plusieurs couches qui apprennent seuls à partir de données. Derrière ChatGPT, DALL-E, Face ID...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920240"/>
            <a:ext cx="8412480" cy="7772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8483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9385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rend ça simple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188720" y="22677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lignes de Python suffisent. On choisit les couches, on compile, on entraîne. Keras gère le reste.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65760" y="2834640"/>
            <a:ext cx="8412480" cy="777240"/>
          </a:xfrm>
          <a:prstGeom prst="rect">
            <a:avLst/>
          </a:prstGeom>
          <a:solidFill>
            <a:srgbClr val="F0F7FA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999232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852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CNN pour les images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188720" y="31821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détectent des motifs par régions (bords, textures, objets). Bien plus efficaces que les réseaux classiques sur les images.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365760" y="3749040"/>
            <a:ext cx="8412480" cy="7772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13632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7673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= game changer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188720" y="409651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Réutiliser un modèle pré-entraîné donne des résultats pro avec peu de données et peu de temps. C'est la pratique standard.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 - EFREI Paris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3716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!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3840480"/>
            <a:ext cx="274320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Babacar GUEYE  •  gueyebaba159@gmail.com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2821</Words>
  <Application>Microsoft Office PowerPoint</Application>
  <PresentationFormat>Affichage à l'écran (16:9)</PresentationFormat>
  <Paragraphs>391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&amp; Vision par Ordinateur</dc:title>
  <dc:subject>PptxGenJS Presentation</dc:subject>
  <dc:creator>Babacar GUEYE</dc:creator>
  <cp:lastModifiedBy>Babacar Gueye</cp:lastModifiedBy>
  <cp:revision>15</cp:revision>
  <dcterms:created xsi:type="dcterms:W3CDTF">2026-03-25T05:14:45Z</dcterms:created>
  <dcterms:modified xsi:type="dcterms:W3CDTF">2026-03-26T09:24:43Z</dcterms:modified>
</cp:coreProperties>
</file>