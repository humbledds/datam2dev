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8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230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1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6D2E46"/>
          </a:solidFill>
          <a:ln/>
        </p:spPr>
      </p:sp>
      <p:pic>
        <p:nvPicPr>
          <p:cNvPr id="3" name="Image 0" descr="preencoded.png"/>
          <p:cNvPicPr>
            <a:picLocks noChangeAspect="1"/>
          </p:cNvPicPr>
          <p:nvPr/>
        </p:nvPicPr>
        <p:blipFill>
          <a:blip r:embed="rId3"/>
          <a:stretch>
            <a:fillRect/>
          </a:stretch>
        </p:blipFill>
        <p:spPr>
          <a:xfrm>
            <a:off x="457200" y="182880"/>
            <a:ext cx="640080" cy="640080"/>
          </a:xfrm>
          <a:prstGeom prst="rect">
            <a:avLst/>
          </a:prstGeom>
        </p:spPr>
      </p:pic>
      <p:sp>
        <p:nvSpPr>
          <p:cNvPr id="4" name="Text 1"/>
          <p:cNvSpPr/>
          <p:nvPr/>
        </p:nvSpPr>
        <p:spPr>
          <a:xfrm>
            <a:off x="1280160" y="182880"/>
            <a:ext cx="6400800" cy="64008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IA / ML / Deep Learning</a:t>
            </a:r>
            <a:endParaRPr lang="en-US" sz="1600" dirty="0"/>
          </a:p>
        </p:txBody>
      </p:sp>
      <p:sp>
        <p:nvSpPr>
          <p:cNvPr id="5" name="Text 2"/>
          <p:cNvSpPr/>
          <p:nvPr/>
        </p:nvSpPr>
        <p:spPr>
          <a:xfrm>
            <a:off x="457200" y="1645920"/>
            <a:ext cx="8229600" cy="1645920"/>
          </a:xfrm>
          <a:prstGeom prst="rect">
            <a:avLst/>
          </a:prstGeom>
          <a:noFill/>
          <a:ln/>
        </p:spPr>
        <p:txBody>
          <a:bodyPr wrap="square" rtlCol="0" anchor="ctr"/>
          <a:lstStyle/>
          <a:p>
            <a:pPr marL="0" indent="0" algn="ctr">
              <a:lnSpc>
                <a:spcPct val="120000"/>
              </a:lnSpc>
              <a:buNone/>
            </a:pPr>
            <a:r>
              <a:rPr lang="en-US" sz="3800" b="1" dirty="0">
                <a:solidFill>
                  <a:srgbClr val="FFFFFF"/>
                </a:solidFill>
                <a:latin typeface="Georgia" pitchFamily="34" charset="0"/>
                <a:ea typeface="Georgia" pitchFamily="34" charset="-122"/>
                <a:cs typeface="Georgia" pitchFamily="34" charset="-120"/>
              </a:rPr>
              <a:t>NLP, Séquences &amp;</a:t>
            </a:r>
            <a:endParaRPr lang="en-US" sz="3800" dirty="0"/>
          </a:p>
          <a:p>
            <a:pPr marL="0" indent="0" algn="ctr">
              <a:lnSpc>
                <a:spcPct val="120000"/>
              </a:lnSpc>
              <a:buNone/>
            </a:pPr>
            <a:r>
              <a:rPr lang="en-US" sz="3800" b="1" dirty="0">
                <a:solidFill>
                  <a:srgbClr val="FFFFFF"/>
                </a:solidFill>
                <a:latin typeface="Georgia" pitchFamily="34" charset="0"/>
                <a:ea typeface="Georgia" pitchFamily="34" charset="-122"/>
                <a:cs typeface="Georgia" pitchFamily="34" charset="-120"/>
              </a:rPr>
              <a:t>Outils Modernes de l'IA</a:t>
            </a:r>
            <a:endParaRPr lang="en-US" sz="3800" dirty="0"/>
          </a:p>
        </p:txBody>
      </p:sp>
      <p:sp>
        <p:nvSpPr>
          <p:cNvPr id="6" name="Text 3"/>
          <p:cNvSpPr/>
          <p:nvPr/>
        </p:nvSpPr>
        <p:spPr>
          <a:xfrm>
            <a:off x="914400" y="3383280"/>
            <a:ext cx="7315200" cy="548640"/>
          </a:xfrm>
          <a:prstGeom prst="rect">
            <a:avLst/>
          </a:prstGeom>
          <a:noFill/>
          <a:ln/>
        </p:spPr>
        <p:txBody>
          <a:bodyPr wrap="square" rtlCol="0" anchor="ctr"/>
          <a:lstStyle/>
          <a:p>
            <a:pPr marL="0" indent="0" algn="ctr">
              <a:buNone/>
            </a:pPr>
            <a:r>
              <a:rPr lang="en-US" sz="1500" dirty="0">
                <a:solidFill>
                  <a:srgbClr val="94A3B8"/>
                </a:solidFill>
                <a:latin typeface="Calibri" pitchFamily="34" charset="0"/>
                <a:ea typeface="Calibri" pitchFamily="34" charset="-122"/>
                <a:cs typeface="Calibri" pitchFamily="34" charset="-120"/>
              </a:rPr>
              <a:t>Comprendre et utiliser les modèles de texte, Hugging Face et les frameworks modernes</a:t>
            </a:r>
            <a:endParaRPr lang="en-US" sz="1500" dirty="0"/>
          </a:p>
        </p:txBody>
      </p:sp>
      <p:sp>
        <p:nvSpPr>
          <p:cNvPr id="7" name="Shape 4"/>
          <p:cNvSpPr/>
          <p:nvPr/>
        </p:nvSpPr>
        <p:spPr>
          <a:xfrm>
            <a:off x="3200400" y="4114800"/>
            <a:ext cx="2743200" cy="36576"/>
          </a:xfrm>
          <a:prstGeom prst="rect">
            <a:avLst/>
          </a:prstGeom>
          <a:solidFill>
            <a:srgbClr val="6D2E46"/>
          </a:solidFill>
          <a:ln/>
        </p:spPr>
      </p:sp>
      <p:sp>
        <p:nvSpPr>
          <p:cNvPr id="8" name="Text 5"/>
          <p:cNvSpPr/>
          <p:nvPr/>
        </p:nvSpPr>
        <p:spPr>
          <a:xfrm>
            <a:off x="457200" y="4389120"/>
            <a:ext cx="8229600" cy="457200"/>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Babacar GUEYE  •  M2 DEV G1  •  EFREI Paris  •  2025-2026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marL="0" indent="0">
              <a:buNone/>
            </a:pPr>
            <a:r>
              <a:rPr lang="en-US" sz="3200" b="1" dirty="0">
                <a:solidFill>
                  <a:srgbClr val="3D1329"/>
                </a:solidFill>
                <a:latin typeface="Georgia" pitchFamily="34" charset="0"/>
                <a:ea typeface="Georgia" pitchFamily="34" charset="-122"/>
                <a:cs typeface="Georgia" pitchFamily="34" charset="-120"/>
              </a:rPr>
              <a:t>Objectifs de la séance</a:t>
            </a:r>
            <a:endParaRPr lang="en-US" sz="3200" dirty="0"/>
          </a:p>
        </p:txBody>
      </p:sp>
      <p:sp>
        <p:nvSpPr>
          <p:cNvPr id="3" name="Text 1"/>
          <p:cNvSpPr/>
          <p:nvPr/>
        </p:nvSpPr>
        <p:spPr>
          <a:xfrm>
            <a:off x="457200" y="868680"/>
            <a:ext cx="8229600"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Focus pratique : utiliser les outils, pas recoder les algorithmes</a:t>
            </a:r>
            <a:endParaRPr lang="en-US" sz="1400" dirty="0"/>
          </a:p>
        </p:txBody>
      </p:sp>
      <p:pic>
        <p:nvPicPr>
          <p:cNvPr id="4" name="Image 0" descr="preencoded.png"/>
          <p:cNvPicPr>
            <a:picLocks noChangeAspect="1"/>
          </p:cNvPicPr>
          <p:nvPr/>
        </p:nvPicPr>
        <p:blipFill>
          <a:blip r:embed="rId3"/>
          <a:stretch>
            <a:fillRect/>
          </a:stretch>
        </p:blipFill>
        <p:spPr>
          <a:xfrm>
            <a:off x="548640" y="1536192"/>
            <a:ext cx="320040" cy="320040"/>
          </a:xfrm>
          <a:prstGeom prst="rect">
            <a:avLst/>
          </a:prstGeom>
        </p:spPr>
      </p:pic>
      <p:sp>
        <p:nvSpPr>
          <p:cNvPr id="5" name="Text 2"/>
          <p:cNvSpPr/>
          <p:nvPr/>
        </p:nvSpPr>
        <p:spPr>
          <a:xfrm>
            <a:off x="1005840" y="146304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Comprendre comment l'IA traite le texte (de la tokenisation à ChatGPT)</a:t>
            </a:r>
            <a:endParaRPr lang="en-US" sz="1500" dirty="0"/>
          </a:p>
        </p:txBody>
      </p:sp>
      <p:pic>
        <p:nvPicPr>
          <p:cNvPr id="6" name="Image 1" descr="preencoded.png"/>
          <p:cNvPicPr>
            <a:picLocks noChangeAspect="1"/>
          </p:cNvPicPr>
          <p:nvPr/>
        </p:nvPicPr>
        <p:blipFill>
          <a:blip r:embed="rId3"/>
          <a:stretch>
            <a:fillRect/>
          </a:stretch>
        </p:blipFill>
        <p:spPr>
          <a:xfrm>
            <a:off x="548640" y="2313432"/>
            <a:ext cx="320040" cy="320040"/>
          </a:xfrm>
          <a:prstGeom prst="rect">
            <a:avLst/>
          </a:prstGeom>
        </p:spPr>
      </p:pic>
      <p:sp>
        <p:nvSpPr>
          <p:cNvPr id="7" name="Text 3"/>
          <p:cNvSpPr/>
          <p:nvPr/>
        </p:nvSpPr>
        <p:spPr>
          <a:xfrm>
            <a:off x="1005840" y="224028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Savoir utiliser Hugging Face pour faire du NLP en une ligne de code</a:t>
            </a:r>
            <a:endParaRPr lang="en-US" sz="1500" dirty="0"/>
          </a:p>
        </p:txBody>
      </p:sp>
      <p:pic>
        <p:nvPicPr>
          <p:cNvPr id="8" name="Image 2" descr="preencoded.png"/>
          <p:cNvPicPr>
            <a:picLocks noChangeAspect="1"/>
          </p:cNvPicPr>
          <p:nvPr/>
        </p:nvPicPr>
        <p:blipFill>
          <a:blip r:embed="rId3"/>
          <a:stretch>
            <a:fillRect/>
          </a:stretch>
        </p:blipFill>
        <p:spPr>
          <a:xfrm>
            <a:off x="548640" y="3090672"/>
            <a:ext cx="320040" cy="320040"/>
          </a:xfrm>
          <a:prstGeom prst="rect">
            <a:avLst/>
          </a:prstGeom>
        </p:spPr>
      </p:pic>
      <p:sp>
        <p:nvSpPr>
          <p:cNvPr id="9" name="Text 4"/>
          <p:cNvSpPr/>
          <p:nvPr/>
        </p:nvSpPr>
        <p:spPr>
          <a:xfrm>
            <a:off x="1005840" y="301752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Comparer TensorFlow, PyTorch et Keras et savoir lequel choisir</a:t>
            </a:r>
            <a:endParaRPr lang="en-US" sz="1500" dirty="0"/>
          </a:p>
        </p:txBody>
      </p:sp>
      <p:pic>
        <p:nvPicPr>
          <p:cNvPr id="10" name="Image 3" descr="preencoded.png"/>
          <p:cNvPicPr>
            <a:picLocks noChangeAspect="1"/>
          </p:cNvPicPr>
          <p:nvPr/>
        </p:nvPicPr>
        <p:blipFill>
          <a:blip r:embed="rId3"/>
          <a:stretch>
            <a:fillRect/>
          </a:stretch>
        </p:blipFill>
        <p:spPr>
          <a:xfrm>
            <a:off x="548640" y="3867912"/>
            <a:ext cx="320040" cy="320040"/>
          </a:xfrm>
          <a:prstGeom prst="rect">
            <a:avLst/>
          </a:prstGeom>
        </p:spPr>
      </p:pic>
      <p:sp>
        <p:nvSpPr>
          <p:cNvPr id="11" name="Text 5"/>
          <p:cNvSpPr/>
          <p:nvPr/>
        </p:nvSpPr>
        <p:spPr>
          <a:xfrm>
            <a:off x="1005840" y="379476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Découvrir les outils MLOps pour gérer vos projets IA (MLflow, W&amp;B)</a:t>
            </a:r>
            <a:endParaRPr lang="en-US" sz="1500" dirty="0"/>
          </a:p>
        </p:txBody>
      </p:sp>
      <p:sp>
        <p:nvSpPr>
          <p:cNvPr id="12" name="Text 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24</a:t>
            </a:r>
            <a:endParaRPr lang="en-US" sz="900" dirty="0"/>
          </a:p>
        </p:txBody>
      </p:sp>
      <p:sp>
        <p:nvSpPr>
          <p:cNvPr id="13" name="Text 7"/>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1 : Comment l'IA comprend le texte</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Du texte brut aux modèles comme ChatGPT</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3 /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Le NLP est partout</a:t>
            </a:r>
            <a:endParaRPr lang="en-US" sz="28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NLP = Natural Language Processing. C'est la branche de l'IA qui traite le langage humain.</a:t>
            </a:r>
            <a:endParaRPr lang="en-US" sz="1300" dirty="0"/>
          </a:p>
        </p:txBody>
      </p:sp>
      <p:sp>
        <p:nvSpPr>
          <p:cNvPr id="4" name="Shape 2"/>
          <p:cNvSpPr/>
          <p:nvPr/>
        </p:nvSpPr>
        <p:spPr>
          <a:xfrm>
            <a:off x="365760" y="1280160"/>
            <a:ext cx="8412480" cy="566928"/>
          </a:xfrm>
          <a:prstGeom prst="rect">
            <a:avLst/>
          </a:prstGeom>
          <a:solidFill>
            <a:srgbClr val="FBF3F6"/>
          </a:solidFill>
          <a:ln/>
        </p:spPr>
      </p:sp>
      <p:sp>
        <p:nvSpPr>
          <p:cNvPr id="5" name="Text 3"/>
          <p:cNvSpPr/>
          <p:nvPr/>
        </p:nvSpPr>
        <p:spPr>
          <a:xfrm>
            <a:off x="548640" y="1298448"/>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ChatGPT / Claude</a:t>
            </a:r>
            <a:endParaRPr lang="en-US" sz="1300" dirty="0"/>
          </a:p>
        </p:txBody>
      </p:sp>
      <p:sp>
        <p:nvSpPr>
          <p:cNvPr id="6" name="Text 4"/>
          <p:cNvSpPr/>
          <p:nvPr/>
        </p:nvSpPr>
        <p:spPr>
          <a:xfrm>
            <a:off x="548640" y="1554480"/>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Conversation, rédaction, résumé, traduction... Basé sur des Transformers entraînés sur des milliards de textes.</a:t>
            </a:r>
            <a:endParaRPr lang="en-US" sz="1100" dirty="0"/>
          </a:p>
        </p:txBody>
      </p:sp>
      <p:sp>
        <p:nvSpPr>
          <p:cNvPr id="7" name="Shape 5"/>
          <p:cNvSpPr/>
          <p:nvPr/>
        </p:nvSpPr>
        <p:spPr>
          <a:xfrm>
            <a:off x="365760" y="1938528"/>
            <a:ext cx="8412480" cy="566928"/>
          </a:xfrm>
          <a:prstGeom prst="rect">
            <a:avLst/>
          </a:prstGeom>
          <a:solidFill>
            <a:srgbClr val="FFFFFF"/>
          </a:solidFill>
          <a:ln/>
        </p:spPr>
      </p:sp>
      <p:sp>
        <p:nvSpPr>
          <p:cNvPr id="8" name="Text 6"/>
          <p:cNvSpPr/>
          <p:nvPr/>
        </p:nvSpPr>
        <p:spPr>
          <a:xfrm>
            <a:off x="548640" y="1956816"/>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Google Translate</a:t>
            </a:r>
            <a:endParaRPr lang="en-US" sz="1300" dirty="0"/>
          </a:p>
        </p:txBody>
      </p:sp>
      <p:sp>
        <p:nvSpPr>
          <p:cNvPr id="9" name="Text 7"/>
          <p:cNvSpPr/>
          <p:nvPr/>
        </p:nvSpPr>
        <p:spPr>
          <a:xfrm>
            <a:off x="548640" y="2212848"/>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Traduction automatique entre 100+ langues, en utilisant des réseaux séquentiels (encoder-decoder).</a:t>
            </a:r>
            <a:endParaRPr lang="en-US" sz="1100" dirty="0"/>
          </a:p>
        </p:txBody>
      </p:sp>
      <p:sp>
        <p:nvSpPr>
          <p:cNvPr id="10" name="Shape 8"/>
          <p:cNvSpPr/>
          <p:nvPr/>
        </p:nvSpPr>
        <p:spPr>
          <a:xfrm>
            <a:off x="365760" y="2596896"/>
            <a:ext cx="8412480" cy="566928"/>
          </a:xfrm>
          <a:prstGeom prst="rect">
            <a:avLst/>
          </a:prstGeom>
          <a:solidFill>
            <a:srgbClr val="FBF3F6"/>
          </a:solidFill>
          <a:ln/>
        </p:spPr>
      </p:sp>
      <p:sp>
        <p:nvSpPr>
          <p:cNvPr id="11" name="Text 9"/>
          <p:cNvSpPr/>
          <p:nvPr/>
        </p:nvSpPr>
        <p:spPr>
          <a:xfrm>
            <a:off x="548640" y="2615184"/>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Siri / Alexa</a:t>
            </a:r>
            <a:endParaRPr lang="en-US" sz="1300" dirty="0"/>
          </a:p>
        </p:txBody>
      </p:sp>
      <p:sp>
        <p:nvSpPr>
          <p:cNvPr id="12" name="Text 10"/>
          <p:cNvSpPr/>
          <p:nvPr/>
        </p:nvSpPr>
        <p:spPr>
          <a:xfrm>
            <a:off x="548640" y="2871216"/>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Comprend vos commandes vocales grâce au NLP (speech-to-text + compréhension du sens).</a:t>
            </a:r>
            <a:endParaRPr lang="en-US" sz="1100" dirty="0"/>
          </a:p>
        </p:txBody>
      </p:sp>
      <p:sp>
        <p:nvSpPr>
          <p:cNvPr id="13" name="Shape 11"/>
          <p:cNvSpPr/>
          <p:nvPr/>
        </p:nvSpPr>
        <p:spPr>
          <a:xfrm>
            <a:off x="365760" y="3255264"/>
            <a:ext cx="8412480" cy="566928"/>
          </a:xfrm>
          <a:prstGeom prst="rect">
            <a:avLst/>
          </a:prstGeom>
          <a:solidFill>
            <a:srgbClr val="FFFFFF"/>
          </a:solidFill>
          <a:ln/>
        </p:spPr>
      </p:sp>
      <p:sp>
        <p:nvSpPr>
          <p:cNvPr id="14" name="Text 12"/>
          <p:cNvSpPr/>
          <p:nvPr/>
        </p:nvSpPr>
        <p:spPr>
          <a:xfrm>
            <a:off x="548640" y="3273552"/>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Filtres anti-spam</a:t>
            </a:r>
            <a:endParaRPr lang="en-US" sz="1300" dirty="0"/>
          </a:p>
        </p:txBody>
      </p:sp>
      <p:sp>
        <p:nvSpPr>
          <p:cNvPr id="15" name="Text 13"/>
          <p:cNvSpPr/>
          <p:nvPr/>
        </p:nvSpPr>
        <p:spPr>
          <a:xfrm>
            <a:off x="548640" y="3529584"/>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Gmail analyse chaque email pour détecter s'il est légitime ou spam (classification de texte).</a:t>
            </a:r>
            <a:endParaRPr lang="en-US" sz="1100" dirty="0"/>
          </a:p>
        </p:txBody>
      </p:sp>
      <p:sp>
        <p:nvSpPr>
          <p:cNvPr id="16" name="Shape 14"/>
          <p:cNvSpPr/>
          <p:nvPr/>
        </p:nvSpPr>
        <p:spPr>
          <a:xfrm>
            <a:off x="365760" y="3913632"/>
            <a:ext cx="8412480" cy="566928"/>
          </a:xfrm>
          <a:prstGeom prst="rect">
            <a:avLst/>
          </a:prstGeom>
          <a:solidFill>
            <a:srgbClr val="FBF3F6"/>
          </a:solidFill>
          <a:ln/>
        </p:spPr>
      </p:sp>
      <p:sp>
        <p:nvSpPr>
          <p:cNvPr id="17" name="Text 15"/>
          <p:cNvSpPr/>
          <p:nvPr/>
        </p:nvSpPr>
        <p:spPr>
          <a:xfrm>
            <a:off x="548640" y="3931920"/>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Analyse de sentiments</a:t>
            </a:r>
            <a:endParaRPr lang="en-US" sz="1300" dirty="0"/>
          </a:p>
        </p:txBody>
      </p:sp>
      <p:sp>
        <p:nvSpPr>
          <p:cNvPr id="18" name="Text 16"/>
          <p:cNvSpPr/>
          <p:nvPr/>
        </p:nvSpPr>
        <p:spPr>
          <a:xfrm>
            <a:off x="548640" y="4187952"/>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Les marques analysent les avis clients/tweets pour savoir si les gens sont contents ou mécontents.</a:t>
            </a:r>
            <a:endParaRPr lang="en-US" sz="1100" dirty="0"/>
          </a:p>
        </p:txBody>
      </p:sp>
      <p:sp>
        <p:nvSpPr>
          <p:cNvPr id="19" name="Text 17"/>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24</a:t>
            </a:r>
            <a:endParaRPr lang="en-US" sz="900" dirty="0"/>
          </a:p>
        </p:txBody>
      </p:sp>
      <p:sp>
        <p:nvSpPr>
          <p:cNvPr id="20" name="Text 18"/>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Comment une IA « comprend » du texte ?</a:t>
            </a:r>
            <a:endParaRPr lang="en-US" sz="26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Un ordinateur ne comprend que des nombres. Il faut donc transformer le texte en chiffres, étape par étape :</a:t>
            </a:r>
            <a:endParaRPr lang="en-US" sz="1300" dirty="0"/>
          </a:p>
        </p:txBody>
      </p:sp>
      <p:sp>
        <p:nvSpPr>
          <p:cNvPr id="4" name="Shape 2"/>
          <p:cNvSpPr/>
          <p:nvPr/>
        </p:nvSpPr>
        <p:spPr>
          <a:xfrm>
            <a:off x="457200" y="1463040"/>
            <a:ext cx="502920" cy="502920"/>
          </a:xfrm>
          <a:prstGeom prst="ellipse">
            <a:avLst/>
          </a:prstGeom>
          <a:solidFill>
            <a:srgbClr val="6D2E46"/>
          </a:solidFill>
          <a:ln/>
        </p:spPr>
      </p:sp>
      <p:sp>
        <p:nvSpPr>
          <p:cNvPr id="5" name="Text 3"/>
          <p:cNvSpPr/>
          <p:nvPr/>
        </p:nvSpPr>
        <p:spPr>
          <a:xfrm>
            <a:off x="457200" y="146304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143000" y="1371600"/>
            <a:ext cx="2286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Tokenisation</a:t>
            </a:r>
            <a:endParaRPr lang="en-US" sz="1500" dirty="0"/>
          </a:p>
        </p:txBody>
      </p:sp>
      <p:sp>
        <p:nvSpPr>
          <p:cNvPr id="7" name="Text 5"/>
          <p:cNvSpPr/>
          <p:nvPr/>
        </p:nvSpPr>
        <p:spPr>
          <a:xfrm>
            <a:off x="1143000" y="1673352"/>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Découper le texte en morceaux (mots ou sous-mots). « Je suis content » → [Je, suis, content]. C'est comme découper une phrase en pièces de puzzle.</a:t>
            </a:r>
            <a:endParaRPr lang="en-US" sz="1200" dirty="0"/>
          </a:p>
        </p:txBody>
      </p:sp>
      <p:sp>
        <p:nvSpPr>
          <p:cNvPr id="8" name="Shape 6"/>
          <p:cNvSpPr/>
          <p:nvPr/>
        </p:nvSpPr>
        <p:spPr>
          <a:xfrm>
            <a:off x="457200" y="2304288"/>
            <a:ext cx="502920" cy="502920"/>
          </a:xfrm>
          <a:prstGeom prst="ellipse">
            <a:avLst/>
          </a:prstGeom>
          <a:solidFill>
            <a:srgbClr val="A26769"/>
          </a:solidFill>
          <a:ln/>
        </p:spPr>
      </p:sp>
      <p:sp>
        <p:nvSpPr>
          <p:cNvPr id="9" name="Text 7"/>
          <p:cNvSpPr/>
          <p:nvPr/>
        </p:nvSpPr>
        <p:spPr>
          <a:xfrm>
            <a:off x="457200" y="2304288"/>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143000" y="2212848"/>
            <a:ext cx="2286000" cy="320040"/>
          </a:xfrm>
          <a:prstGeom prst="rect">
            <a:avLst/>
          </a:prstGeom>
          <a:noFill/>
          <a:ln/>
        </p:spPr>
        <p:txBody>
          <a:bodyPr wrap="square" rtlCol="0" anchor="ctr"/>
          <a:lstStyle/>
          <a:p>
            <a:pPr marL="0" indent="0">
              <a:buNone/>
            </a:pPr>
            <a:r>
              <a:rPr lang="en-US" sz="1500" b="1" dirty="0">
                <a:solidFill>
                  <a:srgbClr val="A26769"/>
                </a:solidFill>
                <a:latin typeface="Calibri" pitchFamily="34" charset="0"/>
                <a:ea typeface="Calibri" pitchFamily="34" charset="-122"/>
                <a:cs typeface="Calibri" pitchFamily="34" charset="-120"/>
              </a:rPr>
              <a:t>Embeddings</a:t>
            </a:r>
            <a:endParaRPr lang="en-US" sz="1500" dirty="0"/>
          </a:p>
        </p:txBody>
      </p:sp>
      <p:sp>
        <p:nvSpPr>
          <p:cNvPr id="11" name="Text 9"/>
          <p:cNvSpPr/>
          <p:nvPr/>
        </p:nvSpPr>
        <p:spPr>
          <a:xfrm>
            <a:off x="1143000" y="2514600"/>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Chaque mot est transformé en un vecteur de nombres (ex: 128 dimensions). Les mots proches en sens ont des vecteurs proches. « roi - homme + femme ≈ reine »</a:t>
            </a:r>
            <a:endParaRPr lang="en-US" sz="1200" dirty="0"/>
          </a:p>
        </p:txBody>
      </p:sp>
      <p:sp>
        <p:nvSpPr>
          <p:cNvPr id="12" name="Shape 10"/>
          <p:cNvSpPr/>
          <p:nvPr/>
        </p:nvSpPr>
        <p:spPr>
          <a:xfrm>
            <a:off x="457200" y="3145536"/>
            <a:ext cx="502920" cy="502920"/>
          </a:xfrm>
          <a:prstGeom prst="ellipse">
            <a:avLst/>
          </a:prstGeom>
          <a:solidFill>
            <a:srgbClr val="3D1329"/>
          </a:solidFill>
          <a:ln/>
        </p:spPr>
      </p:sp>
      <p:sp>
        <p:nvSpPr>
          <p:cNvPr id="13" name="Text 11"/>
          <p:cNvSpPr/>
          <p:nvPr/>
        </p:nvSpPr>
        <p:spPr>
          <a:xfrm>
            <a:off x="457200" y="3145536"/>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143000" y="3054096"/>
            <a:ext cx="2286000" cy="320040"/>
          </a:xfrm>
          <a:prstGeom prst="rect">
            <a:avLst/>
          </a:prstGeom>
          <a:noFill/>
          <a:ln/>
        </p:spPr>
        <p:txBody>
          <a:bodyPr wrap="square" rtlCol="0" anchor="ctr"/>
          <a:lstStyle/>
          <a:p>
            <a:pPr marL="0" indent="0">
              <a:buNone/>
            </a:pPr>
            <a:r>
              <a:rPr lang="en-US" sz="1500" b="1" dirty="0">
                <a:solidFill>
                  <a:srgbClr val="3D1329"/>
                </a:solidFill>
                <a:latin typeface="Calibri" pitchFamily="34" charset="0"/>
                <a:ea typeface="Calibri" pitchFamily="34" charset="-122"/>
                <a:cs typeface="Calibri" pitchFamily="34" charset="-120"/>
              </a:rPr>
              <a:t>Modèle</a:t>
            </a:r>
            <a:endParaRPr lang="en-US" sz="1500" dirty="0"/>
          </a:p>
        </p:txBody>
      </p:sp>
      <p:sp>
        <p:nvSpPr>
          <p:cNvPr id="15" name="Text 13"/>
          <p:cNvSpPr/>
          <p:nvPr/>
        </p:nvSpPr>
        <p:spPr>
          <a:xfrm>
            <a:off x="1143000" y="3355848"/>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Un réseau de neurones (RNN, LSTM, ou Transformer) lit la séquence d'embeddings et comprend le contexte global de la phrase.</a:t>
            </a:r>
            <a:endParaRPr lang="en-US" sz="1200" dirty="0"/>
          </a:p>
        </p:txBody>
      </p:sp>
      <p:sp>
        <p:nvSpPr>
          <p:cNvPr id="16" name="Shape 14"/>
          <p:cNvSpPr/>
          <p:nvPr/>
        </p:nvSpPr>
        <p:spPr>
          <a:xfrm>
            <a:off x="457200" y="3986784"/>
            <a:ext cx="502920" cy="502920"/>
          </a:xfrm>
          <a:prstGeom prst="ellipse">
            <a:avLst/>
          </a:prstGeom>
          <a:solidFill>
            <a:srgbClr val="059669"/>
          </a:solidFill>
          <a:ln/>
        </p:spPr>
      </p:sp>
      <p:sp>
        <p:nvSpPr>
          <p:cNvPr id="17" name="Text 15"/>
          <p:cNvSpPr/>
          <p:nvPr/>
        </p:nvSpPr>
        <p:spPr>
          <a:xfrm>
            <a:off x="457200" y="3986784"/>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143000" y="3895344"/>
            <a:ext cx="2286000" cy="320040"/>
          </a:xfrm>
          <a:prstGeom prst="rect">
            <a:avLst/>
          </a:prstGeom>
          <a:noFill/>
          <a:ln/>
        </p:spPr>
        <p:txBody>
          <a:bodyPr wrap="square" rtlCol="0" anchor="ctr"/>
          <a:lstStyle/>
          <a:p>
            <a:pPr marL="0" indent="0">
              <a:buNone/>
            </a:pPr>
            <a:r>
              <a:rPr lang="en-US" sz="1500" b="1" dirty="0">
                <a:solidFill>
                  <a:srgbClr val="059669"/>
                </a:solidFill>
                <a:latin typeface="Calibri" pitchFamily="34" charset="0"/>
                <a:ea typeface="Calibri" pitchFamily="34" charset="-122"/>
                <a:cs typeface="Calibri" pitchFamily="34" charset="-120"/>
              </a:rPr>
              <a:t>Prédiction</a:t>
            </a:r>
            <a:endParaRPr lang="en-US" sz="1500" dirty="0"/>
          </a:p>
        </p:txBody>
      </p:sp>
      <p:sp>
        <p:nvSpPr>
          <p:cNvPr id="19" name="Text 17"/>
          <p:cNvSpPr/>
          <p:nvPr/>
        </p:nvSpPr>
        <p:spPr>
          <a:xfrm>
            <a:off x="1143000" y="4197096"/>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Le modèle produit une sortie : classification (positif/négatif), traduction, génération du mot suivant, résumé, etc.</a:t>
            </a:r>
            <a:endParaRPr lang="en-US" sz="1200" dirty="0"/>
          </a:p>
        </p:txBody>
      </p:sp>
      <p:sp>
        <p:nvSpPr>
          <p:cNvPr id="20"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24</a:t>
            </a:r>
            <a:endParaRPr lang="en-US" sz="900" dirty="0"/>
          </a:p>
        </p:txBody>
      </p:sp>
      <p:sp>
        <p:nvSpPr>
          <p:cNvPr id="21" name="Text 19"/>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RNN et LSTM : traiter des séquences</a:t>
            </a:r>
            <a:endParaRPr lang="en-US" sz="28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Les réseaux séquentiels lisent le texte mot par mot, en gardant une « mémoire » de ce qu'ils ont lu.</a:t>
            </a:r>
            <a:endParaRPr lang="en-US" sz="1300" dirty="0"/>
          </a:p>
        </p:txBody>
      </p:sp>
      <p:sp>
        <p:nvSpPr>
          <p:cNvPr id="4" name="Shape 2"/>
          <p:cNvSpPr/>
          <p:nvPr/>
        </p:nvSpPr>
        <p:spPr>
          <a:xfrm>
            <a:off x="274320" y="1325880"/>
            <a:ext cx="4114800" cy="2103120"/>
          </a:xfrm>
          <a:prstGeom prst="rect">
            <a:avLst/>
          </a:prstGeom>
          <a:solidFill>
            <a:srgbClr val="FBF3F6"/>
          </a:solidFill>
          <a:ln/>
          <a:effectLst>
            <a:outerShdw blurRad="76200" dist="25400" dir="8100000" algn="bl" rotWithShape="0">
              <a:srgbClr val="000000">
                <a:alpha val="12000"/>
              </a:srgbClr>
            </a:outerShdw>
          </a:effectLst>
        </p:spPr>
      </p:sp>
      <p:sp>
        <p:nvSpPr>
          <p:cNvPr id="5" name="Shape 3"/>
          <p:cNvSpPr/>
          <p:nvPr/>
        </p:nvSpPr>
        <p:spPr>
          <a:xfrm>
            <a:off x="274320" y="1325880"/>
            <a:ext cx="4114800" cy="411480"/>
          </a:xfrm>
          <a:prstGeom prst="rect">
            <a:avLst/>
          </a:prstGeom>
          <a:solidFill>
            <a:srgbClr val="6D2E46"/>
          </a:solidFill>
          <a:ln/>
        </p:spPr>
      </p:sp>
      <p:sp>
        <p:nvSpPr>
          <p:cNvPr id="6" name="Text 4"/>
          <p:cNvSpPr/>
          <p:nvPr/>
        </p:nvSpPr>
        <p:spPr>
          <a:xfrm>
            <a:off x="274320" y="1325880"/>
            <a:ext cx="411480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RNN (Réseau Récurrent)</a:t>
            </a:r>
            <a:endParaRPr lang="en-US" sz="1300" dirty="0"/>
          </a:p>
        </p:txBody>
      </p:sp>
      <p:sp>
        <p:nvSpPr>
          <p:cNvPr id="7" name="Text 5"/>
          <p:cNvSpPr/>
          <p:nvPr/>
        </p:nvSpPr>
        <p:spPr>
          <a:xfrm>
            <a:off x="457200" y="1874520"/>
            <a:ext cx="3749040" cy="1463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Lit le texte mot par mot, comme vous lisez un livre.</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Problème : il « oublie » le début de la phrase quand elle est longue. C'est comme lire un paragraphe et ne se souvenir que des derniers mots.</a:t>
            </a:r>
            <a:endParaRPr lang="en-US" sz="1200" dirty="0"/>
          </a:p>
          <a:p>
            <a:pPr marL="0" indent="0">
              <a:buNone/>
            </a:pP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 Fonctionne pour les phrases courtes, échoue sur les longues.</a:t>
            </a:r>
            <a:endParaRPr lang="en-US" sz="1200" dirty="0"/>
          </a:p>
        </p:txBody>
      </p:sp>
      <p:sp>
        <p:nvSpPr>
          <p:cNvPr id="8" name="Shape 6"/>
          <p:cNvSpPr/>
          <p:nvPr/>
        </p:nvSpPr>
        <p:spPr>
          <a:xfrm>
            <a:off x="4754880" y="1325880"/>
            <a:ext cx="4114800" cy="2103120"/>
          </a:xfrm>
          <a:prstGeom prst="rect">
            <a:avLst/>
          </a:prstGeom>
          <a:solidFill>
            <a:srgbClr val="FBF3F6"/>
          </a:solidFill>
          <a:ln/>
          <a:effectLst>
            <a:outerShdw blurRad="76200" dist="25400" dir="8100000" algn="bl" rotWithShape="0">
              <a:srgbClr val="000000">
                <a:alpha val="12000"/>
              </a:srgbClr>
            </a:outerShdw>
          </a:effectLst>
        </p:spPr>
      </p:sp>
      <p:sp>
        <p:nvSpPr>
          <p:cNvPr id="9" name="Shape 7"/>
          <p:cNvSpPr/>
          <p:nvPr/>
        </p:nvSpPr>
        <p:spPr>
          <a:xfrm>
            <a:off x="4754880" y="1325880"/>
            <a:ext cx="4114800" cy="411480"/>
          </a:xfrm>
          <a:prstGeom prst="rect">
            <a:avLst/>
          </a:prstGeom>
          <a:solidFill>
            <a:srgbClr val="A26769"/>
          </a:solidFill>
          <a:ln/>
        </p:spPr>
      </p:sp>
      <p:sp>
        <p:nvSpPr>
          <p:cNvPr id="10" name="Text 8"/>
          <p:cNvSpPr/>
          <p:nvPr/>
        </p:nvSpPr>
        <p:spPr>
          <a:xfrm>
            <a:off x="4754880" y="1325880"/>
            <a:ext cx="411480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LSTM (Long Short-Term Memory)</a:t>
            </a:r>
            <a:endParaRPr lang="en-US" sz="1300" dirty="0"/>
          </a:p>
        </p:txBody>
      </p:sp>
      <p:sp>
        <p:nvSpPr>
          <p:cNvPr id="11" name="Text 9"/>
          <p:cNvSpPr/>
          <p:nvPr/>
        </p:nvSpPr>
        <p:spPr>
          <a:xfrm>
            <a:off x="4937760" y="1874520"/>
            <a:ext cx="3749040" cy="1463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Version améliorée du RNN avec une « mémoire longue ».</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Il a des « portes » qui décident quoi mémoriser, quoi oublier, et quoi transmettre. Comme un carnet de notes intelligent.</a:t>
            </a:r>
            <a:endParaRPr lang="en-US" sz="1200" dirty="0"/>
          </a:p>
          <a:p>
            <a:pPr marL="0" indent="0">
              <a:buNone/>
            </a:pPr>
            <a:endParaRPr lang="en-US" sz="1200" dirty="0"/>
          </a:p>
          <a:p>
            <a:pPr marL="0" indent="0">
              <a:buNone/>
            </a:pPr>
            <a:r>
              <a:rPr lang="en-US" sz="1200" i="1" dirty="0">
                <a:solidFill>
                  <a:srgbClr val="059669"/>
                </a:solidFill>
                <a:latin typeface="Calibri" pitchFamily="34" charset="0"/>
                <a:ea typeface="Calibri" pitchFamily="34" charset="-122"/>
                <a:cs typeface="Calibri" pitchFamily="34" charset="-120"/>
              </a:rPr>
              <a:t>→ Fonctionne pour les phrases longues et complexes.</a:t>
            </a:r>
            <a:endParaRPr lang="en-US" sz="1200" dirty="0"/>
          </a:p>
        </p:txBody>
      </p:sp>
      <p:sp>
        <p:nvSpPr>
          <p:cNvPr id="12" name="Shape 10"/>
          <p:cNvSpPr/>
          <p:nvPr/>
        </p:nvSpPr>
        <p:spPr>
          <a:xfrm>
            <a:off x="365760" y="3566160"/>
            <a:ext cx="8412480" cy="1188720"/>
          </a:xfrm>
          <a:prstGeom prst="rect">
            <a:avLst/>
          </a:prstGeom>
          <a:solidFill>
            <a:srgbClr val="FEF3C7"/>
          </a:solidFill>
          <a:ln/>
        </p:spPr>
      </p:sp>
      <p:sp>
        <p:nvSpPr>
          <p:cNvPr id="13" name="Text 11"/>
          <p:cNvSpPr/>
          <p:nvPr/>
        </p:nvSpPr>
        <p:spPr>
          <a:xfrm>
            <a:off x="548640" y="3664131"/>
            <a:ext cx="8046720" cy="1097280"/>
          </a:xfrm>
          <a:prstGeom prst="rect">
            <a:avLst/>
          </a:prstGeom>
          <a:noFill/>
          <a:ln/>
        </p:spPr>
        <p:txBody>
          <a:bodyPr wrap="square" rtlCol="0" anchor="ctr"/>
          <a:lstStyle/>
          <a:p>
            <a:pPr marL="0" indent="0">
              <a:buNone/>
            </a:pPr>
            <a:r>
              <a:rPr lang="en-US" sz="1400" b="1" dirty="0">
                <a:solidFill>
                  <a:srgbClr val="92400E"/>
                </a:solidFill>
                <a:latin typeface="Calibri" pitchFamily="34" charset="0"/>
                <a:ea typeface="Calibri" pitchFamily="34" charset="-122"/>
                <a:cs typeface="Calibri" pitchFamily="34" charset="-120"/>
              </a:rPr>
              <a:t>Et aujourd'hui ? Les Transformers (2017+)</a:t>
            </a:r>
            <a:endParaRPr lang="en-US" sz="1400" dirty="0"/>
          </a:p>
          <a:p>
            <a:pPr marL="0" indent="0">
              <a:buNone/>
            </a:pPr>
            <a:endParaRPr lang="en-US" sz="1400" dirty="0"/>
          </a:p>
          <a:p>
            <a:pPr marL="0" indent="0">
              <a:buNone/>
            </a:pPr>
            <a:r>
              <a:rPr lang="en-US" sz="1200" dirty="0">
                <a:solidFill>
                  <a:srgbClr val="92400E"/>
                </a:solidFill>
                <a:latin typeface="Calibri" pitchFamily="34" charset="0"/>
                <a:ea typeface="Calibri" pitchFamily="34" charset="-122"/>
                <a:cs typeface="Calibri" pitchFamily="34" charset="-120"/>
              </a:rPr>
              <a:t>Les Transformers (utilisés par ChatGPT, BERT, GPT-4) ne lisent pas mot par mot : ils regardent toute la phrase en même temps grâce au mécanisme d'« attention ». C'est beaucoup plus rapide et puissant. Les LSTM restent utilisés pour des cas simples ou quand on a peu de données.</a:t>
            </a:r>
            <a:endParaRPr lang="en-US" sz="1400" dirty="0"/>
          </a:p>
        </p:txBody>
      </p:sp>
      <p:sp>
        <p:nvSpPr>
          <p:cNvPr id="14" name="Text 12"/>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24</a:t>
            </a:r>
            <a:endParaRPr lang="en-US" sz="900" dirty="0"/>
          </a:p>
        </p:txBody>
      </p:sp>
      <p:sp>
        <p:nvSpPr>
          <p:cNvPr id="15" name="Text 13"/>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8EE35DA-8A6E-7FD2-D870-7DDF5FE2709B}"/>
              </a:ext>
            </a:extLst>
          </p:cNvPr>
          <p:cNvPicPr>
            <a:picLocks noChangeAspect="1"/>
          </p:cNvPicPr>
          <p:nvPr/>
        </p:nvPicPr>
        <p:blipFill>
          <a:blip r:embed="rId2"/>
          <a:stretch>
            <a:fillRect/>
          </a:stretch>
        </p:blipFill>
        <p:spPr>
          <a:xfrm>
            <a:off x="0" y="628650"/>
            <a:ext cx="9144000" cy="3886200"/>
          </a:xfrm>
          <a:prstGeom prst="rect">
            <a:avLst/>
          </a:prstGeom>
        </p:spPr>
      </p:pic>
    </p:spTree>
    <p:extLst>
      <p:ext uri="{BB962C8B-B14F-4D97-AF65-F5344CB8AC3E}">
        <p14:creationId xmlns:p14="http://schemas.microsoft.com/office/powerpoint/2010/main" val="3861795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Analyse de sentiment avec LSTM — en code</a:t>
            </a:r>
            <a:endParaRPr lang="en-US" sz="24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Classifier des critiques de films comme positives ou négatives (dataset IMDB) :</a:t>
            </a:r>
            <a:endParaRPr lang="en-US" sz="1300" dirty="0"/>
          </a:p>
        </p:txBody>
      </p:sp>
      <p:sp>
        <p:nvSpPr>
          <p:cNvPr id="4" name="Shape 2"/>
          <p:cNvSpPr/>
          <p:nvPr/>
        </p:nvSpPr>
        <p:spPr>
          <a:xfrm>
            <a:off x="365760" y="1188720"/>
            <a:ext cx="8412480" cy="3108960"/>
          </a:xfrm>
          <a:prstGeom prst="rect">
            <a:avLst/>
          </a:prstGeom>
          <a:solidFill>
            <a:srgbClr val="1E293B"/>
          </a:solidFill>
          <a:ln/>
        </p:spPr>
      </p:sp>
      <p:sp>
        <p:nvSpPr>
          <p:cNvPr id="5" name="Text 3"/>
          <p:cNvSpPr/>
          <p:nvPr/>
        </p:nvSpPr>
        <p:spPr>
          <a:xfrm>
            <a:off x="640080" y="1280160"/>
            <a:ext cx="7863840" cy="2926080"/>
          </a:xfrm>
          <a:prstGeom prst="rect">
            <a:avLst/>
          </a:prstGeom>
          <a:noFill/>
          <a:ln/>
        </p:spPr>
        <p:txBody>
          <a:bodyPr wrap="square" rtlCol="0" anchor="t"/>
          <a:lstStyle/>
          <a:p>
            <a:pPr marL="0" indent="0">
              <a:buNone/>
            </a:pPr>
            <a:r>
              <a:rPr lang="en-US" sz="1150" dirty="0">
                <a:solidFill>
                  <a:srgbClr val="6EE7B7"/>
                </a:solidFill>
                <a:latin typeface="Consolas" pitchFamily="34" charset="0"/>
                <a:ea typeface="Consolas" pitchFamily="34" charset="-122"/>
                <a:cs typeface="Consolas" pitchFamily="34" charset="-120"/>
              </a:rPr>
              <a:t># 1. Charger les données (déjà pré-traitées dans Keras !)</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(X_train, y_train), (X_test, y_test) = imdb.load_data(num_words=5000)</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X_train = pad_sequences(X_train, maxlen=200)  # même longueur</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2. Créer le modèle</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model = Sequential([</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    Embedding(5000, 128),         # mots → vecteurs</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    LSTM(64, dropout=0.2),        # comprendre la séquence</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    Dense(1, activation='sigmoid') # positif ou négatif</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3. Entraîner</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model.fit(X_train, y_train, epochs=5)  # ~85-87% accuracy !</a:t>
            </a:r>
            <a:endParaRPr lang="en-US" sz="1150" dirty="0"/>
          </a:p>
        </p:txBody>
      </p:sp>
      <p:sp>
        <p:nvSpPr>
          <p:cNvPr id="6" name="Text 4"/>
          <p:cNvSpPr/>
          <p:nvPr/>
        </p:nvSpPr>
        <p:spPr>
          <a:xfrm>
            <a:off x="457200" y="4434840"/>
            <a:ext cx="8229600" cy="457200"/>
          </a:xfrm>
          <a:prstGeom prst="rect">
            <a:avLst/>
          </a:prstGeom>
          <a:noFill/>
          <a:ln/>
        </p:spPr>
        <p:txBody>
          <a:bodyPr wrap="square" rtlCol="0" anchor="ctr"/>
          <a:lstStyle/>
          <a:p>
            <a:pPr marL="0" indent="0">
              <a:buNone/>
            </a:pPr>
            <a:r>
              <a:rPr lang="en-US" sz="1150" i="1" dirty="0">
                <a:solidFill>
                  <a:srgbClr val="6D2E46"/>
                </a:solidFill>
                <a:latin typeface="Calibri" pitchFamily="34" charset="0"/>
                <a:ea typeface="Calibri" pitchFamily="34" charset="-122"/>
                <a:cs typeface="Calibri" pitchFamily="34" charset="-120"/>
              </a:rPr>
              <a:t>La couche Embedding transforme chaque mot en vecteur. Le LSTM lit la séquence et comprend le sentiment global. Dense produit la prédiction.</a:t>
            </a:r>
            <a:endParaRPr lang="en-US" sz="1150" dirty="0"/>
          </a:p>
        </p:txBody>
      </p:sp>
      <p:sp>
        <p:nvSpPr>
          <p:cNvPr id="7" name="Text 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24</a:t>
            </a:r>
            <a:endParaRPr lang="en-US" sz="900" dirty="0"/>
          </a:p>
        </p:txBody>
      </p:sp>
      <p:sp>
        <p:nvSpPr>
          <p:cNvPr id="8" name="Text 6"/>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2 : Hugging Face &amp; les pipelines</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Le NLP en une ligne de code</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8 /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Hugging Face : le « GitHub de l'IA »</a:t>
            </a:r>
            <a:endParaRPr lang="en-US" sz="2800" dirty="0"/>
          </a:p>
        </p:txBody>
      </p:sp>
      <p:sp>
        <p:nvSpPr>
          <p:cNvPr id="3" name="Shape 1"/>
          <p:cNvSpPr/>
          <p:nvPr/>
        </p:nvSpPr>
        <p:spPr>
          <a:xfrm>
            <a:off x="365760" y="914400"/>
            <a:ext cx="8412480" cy="1463040"/>
          </a:xfrm>
          <a:prstGeom prst="rect">
            <a:avLst/>
          </a:prstGeom>
          <a:solidFill>
            <a:srgbClr val="FCF0F4"/>
          </a:solidFill>
          <a:ln/>
        </p:spPr>
      </p:sp>
      <p:sp>
        <p:nvSpPr>
          <p:cNvPr id="4" name="Text 2"/>
          <p:cNvSpPr/>
          <p:nvPr/>
        </p:nvSpPr>
        <p:spPr>
          <a:xfrm>
            <a:off x="548640" y="960120"/>
            <a:ext cx="8046720" cy="137160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Hugging Face est une plateforme qui héberge +200 000 modèles pré-entraînés pour toutes les tâches d'IA imaginables : texte, images, audio, vidéo...</a:t>
            </a:r>
            <a:endParaRPr lang="en-US" sz="1300" dirty="0"/>
          </a:p>
          <a:p>
            <a:pPr marL="0" indent="0">
              <a:buNone/>
            </a:pP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Avec la librairie </a:t>
            </a:r>
            <a:r>
              <a:rPr lang="en-US" sz="1300" b="1" dirty="0">
                <a:solidFill>
                  <a:srgbClr val="1E293B"/>
                </a:solidFill>
                <a:latin typeface="Consolas" pitchFamily="34" charset="0"/>
                <a:ea typeface="Consolas" pitchFamily="34" charset="-122"/>
                <a:cs typeface="Consolas" pitchFamily="34" charset="-120"/>
              </a:rPr>
              <a:t>transformers</a:t>
            </a:r>
            <a:r>
              <a:rPr lang="en-US" sz="1300" dirty="0">
                <a:solidFill>
                  <a:srgbClr val="1E293B"/>
                </a:solidFill>
                <a:latin typeface="Calibri" pitchFamily="34" charset="0"/>
                <a:ea typeface="Calibri" pitchFamily="34" charset="-122"/>
                <a:cs typeface="Calibri" pitchFamily="34" charset="-120"/>
              </a:rPr>
              <a:t>, vous pouvez utiliser n'importe quel modèle en 1-2 lignes de code, sans rien entraîner vous-même. C'est comme un app store de modèles IA.</a:t>
            </a:r>
            <a:endParaRPr lang="en-US" sz="1300" dirty="0"/>
          </a:p>
        </p:txBody>
      </p:sp>
      <p:sp>
        <p:nvSpPr>
          <p:cNvPr id="5" name="Shape 3"/>
          <p:cNvSpPr/>
          <p:nvPr/>
        </p:nvSpPr>
        <p:spPr>
          <a:xfrm>
            <a:off x="274320" y="2606040"/>
            <a:ext cx="2743200" cy="1828800"/>
          </a:xfrm>
          <a:prstGeom prst="rect">
            <a:avLst/>
          </a:prstGeom>
          <a:solidFill>
            <a:srgbClr val="FBF3F6"/>
          </a:solidFill>
          <a:ln/>
          <a:effectLst>
            <a:outerShdw blurRad="76200" dist="25400" dir="8100000" algn="bl" rotWithShape="0">
              <a:srgbClr val="000000">
                <a:alpha val="12000"/>
              </a:srgbClr>
            </a:outerShdw>
          </a:effectLst>
        </p:spPr>
      </p:sp>
      <p:sp>
        <p:nvSpPr>
          <p:cNvPr id="6" name="Shape 4"/>
          <p:cNvSpPr/>
          <p:nvPr/>
        </p:nvSpPr>
        <p:spPr>
          <a:xfrm>
            <a:off x="274320" y="2606040"/>
            <a:ext cx="2743200" cy="411480"/>
          </a:xfrm>
          <a:prstGeom prst="rect">
            <a:avLst/>
          </a:prstGeom>
          <a:solidFill>
            <a:srgbClr val="6D2E46"/>
          </a:solidFill>
          <a:ln/>
        </p:spPr>
      </p:sp>
      <p:sp>
        <p:nvSpPr>
          <p:cNvPr id="7" name="Text 5"/>
          <p:cNvSpPr/>
          <p:nvPr/>
        </p:nvSpPr>
        <p:spPr>
          <a:xfrm>
            <a:off x="274320" y="2606040"/>
            <a:ext cx="274320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Pipelines</a:t>
            </a:r>
            <a:endParaRPr lang="en-US" sz="1400" dirty="0"/>
          </a:p>
        </p:txBody>
      </p:sp>
      <p:sp>
        <p:nvSpPr>
          <p:cNvPr id="8" name="Text 6"/>
          <p:cNvSpPr/>
          <p:nvPr/>
        </p:nvSpPr>
        <p:spPr>
          <a:xfrm>
            <a:off x="365760" y="3154680"/>
            <a:ext cx="2560320" cy="1097280"/>
          </a:xfrm>
          <a:prstGeom prst="rect">
            <a:avLst/>
          </a:prstGeom>
          <a:noFill/>
          <a:ln/>
        </p:spPr>
        <p:txBody>
          <a:bodyPr wrap="square"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Abstraction haut niveau :</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une ligne de code pour</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sentiment, traduction, résumé...</a:t>
            </a:r>
            <a:endParaRPr lang="en-US" sz="1200" dirty="0"/>
          </a:p>
        </p:txBody>
      </p:sp>
      <p:sp>
        <p:nvSpPr>
          <p:cNvPr id="9" name="Shape 7"/>
          <p:cNvSpPr/>
          <p:nvPr/>
        </p:nvSpPr>
        <p:spPr>
          <a:xfrm>
            <a:off x="3200400" y="2606040"/>
            <a:ext cx="2743200" cy="1828800"/>
          </a:xfrm>
          <a:prstGeom prst="rect">
            <a:avLst/>
          </a:prstGeom>
          <a:solidFill>
            <a:srgbClr val="FBF3F6"/>
          </a:solidFill>
          <a:ln/>
          <a:effectLst>
            <a:outerShdw blurRad="76200" dist="25400" dir="8100000" algn="bl" rotWithShape="0">
              <a:srgbClr val="000000">
                <a:alpha val="12000"/>
              </a:srgbClr>
            </a:outerShdw>
          </a:effectLst>
        </p:spPr>
      </p:sp>
      <p:sp>
        <p:nvSpPr>
          <p:cNvPr id="10" name="Shape 8"/>
          <p:cNvSpPr/>
          <p:nvPr/>
        </p:nvSpPr>
        <p:spPr>
          <a:xfrm>
            <a:off x="3200400" y="2606040"/>
            <a:ext cx="2743200" cy="411480"/>
          </a:xfrm>
          <a:prstGeom prst="rect">
            <a:avLst/>
          </a:prstGeom>
          <a:solidFill>
            <a:srgbClr val="A26769"/>
          </a:solidFill>
          <a:ln/>
        </p:spPr>
      </p:sp>
      <p:sp>
        <p:nvSpPr>
          <p:cNvPr id="11" name="Text 9"/>
          <p:cNvSpPr/>
          <p:nvPr/>
        </p:nvSpPr>
        <p:spPr>
          <a:xfrm>
            <a:off x="3200400" y="2606040"/>
            <a:ext cx="274320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+200k modèles</a:t>
            </a:r>
            <a:endParaRPr lang="en-US" sz="1400" dirty="0"/>
          </a:p>
        </p:txBody>
      </p:sp>
      <p:sp>
        <p:nvSpPr>
          <p:cNvPr id="12" name="Text 10"/>
          <p:cNvSpPr/>
          <p:nvPr/>
        </p:nvSpPr>
        <p:spPr>
          <a:xfrm>
            <a:off x="3291840" y="3154680"/>
            <a:ext cx="2560320" cy="1097280"/>
          </a:xfrm>
          <a:prstGeom prst="rect">
            <a:avLst/>
          </a:prstGeom>
          <a:noFill/>
          <a:ln/>
        </p:spPr>
        <p:txBody>
          <a:bodyPr wrap="square"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BERT, GPT-2, T5, Llama,</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Mistral, Whisper... tous</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téléchargeables gratuitement</a:t>
            </a:r>
            <a:endParaRPr lang="en-US" sz="1200" dirty="0"/>
          </a:p>
        </p:txBody>
      </p:sp>
      <p:sp>
        <p:nvSpPr>
          <p:cNvPr id="13" name="Shape 11"/>
          <p:cNvSpPr/>
          <p:nvPr/>
        </p:nvSpPr>
        <p:spPr>
          <a:xfrm>
            <a:off x="6126480" y="2606040"/>
            <a:ext cx="2743200" cy="1828800"/>
          </a:xfrm>
          <a:prstGeom prst="rect">
            <a:avLst/>
          </a:prstGeom>
          <a:solidFill>
            <a:srgbClr val="FBF3F6"/>
          </a:solidFill>
          <a:ln/>
          <a:effectLst>
            <a:outerShdw blurRad="76200" dist="25400" dir="8100000" algn="bl" rotWithShape="0">
              <a:srgbClr val="000000">
                <a:alpha val="12000"/>
              </a:srgbClr>
            </a:outerShdw>
          </a:effectLst>
        </p:spPr>
      </p:sp>
      <p:sp>
        <p:nvSpPr>
          <p:cNvPr id="14" name="Shape 12"/>
          <p:cNvSpPr/>
          <p:nvPr/>
        </p:nvSpPr>
        <p:spPr>
          <a:xfrm>
            <a:off x="6126480" y="2606040"/>
            <a:ext cx="2743200" cy="411480"/>
          </a:xfrm>
          <a:prstGeom prst="rect">
            <a:avLst/>
          </a:prstGeom>
          <a:solidFill>
            <a:srgbClr val="3D1329"/>
          </a:solidFill>
          <a:ln/>
        </p:spPr>
      </p:sp>
      <p:sp>
        <p:nvSpPr>
          <p:cNvPr id="15" name="Text 13"/>
          <p:cNvSpPr/>
          <p:nvPr/>
        </p:nvSpPr>
        <p:spPr>
          <a:xfrm>
            <a:off x="6126480" y="2606040"/>
            <a:ext cx="274320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Datasets</a:t>
            </a:r>
            <a:endParaRPr lang="en-US" sz="1400" dirty="0"/>
          </a:p>
        </p:txBody>
      </p:sp>
      <p:sp>
        <p:nvSpPr>
          <p:cNvPr id="16" name="Text 14"/>
          <p:cNvSpPr/>
          <p:nvPr/>
        </p:nvSpPr>
        <p:spPr>
          <a:xfrm>
            <a:off x="6217920" y="3154680"/>
            <a:ext cx="2560320" cy="1097280"/>
          </a:xfrm>
          <a:prstGeom prst="rect">
            <a:avLst/>
          </a:prstGeom>
          <a:noFill/>
          <a:ln/>
        </p:spPr>
        <p:txBody>
          <a:bodyPr wrap="square"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Des milliers de datasets</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prêts à l'emploi pour</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entraîner vos modèles</a:t>
            </a:r>
            <a:endParaRPr lang="en-US" sz="1200" dirty="0"/>
          </a:p>
        </p:txBody>
      </p:sp>
      <p:sp>
        <p:nvSpPr>
          <p:cNvPr id="17" name="Text 15"/>
          <p:cNvSpPr/>
          <p:nvPr/>
        </p:nvSpPr>
        <p:spPr>
          <a:xfrm>
            <a:off x="457200" y="4526280"/>
            <a:ext cx="8229600" cy="274320"/>
          </a:xfrm>
          <a:prstGeom prst="rect">
            <a:avLst/>
          </a:prstGeom>
          <a:noFill/>
          <a:ln/>
        </p:spPr>
        <p:txBody>
          <a:bodyPr wrap="square" rtlCol="0" anchor="ctr"/>
          <a:lstStyle/>
          <a:p>
            <a:pPr marL="0" indent="0">
              <a:buNone/>
            </a:pPr>
            <a:r>
              <a:rPr lang="en-US" sz="1200" dirty="0">
                <a:solidFill>
                  <a:srgbClr val="6D2E46"/>
                </a:solidFill>
                <a:latin typeface="Consolas" pitchFamily="34" charset="0"/>
                <a:ea typeface="Consolas" pitchFamily="34" charset="-122"/>
                <a:cs typeface="Consolas" pitchFamily="34" charset="-120"/>
              </a:rPr>
              <a:t>Installation : pip install transformers</a:t>
            </a:r>
            <a:endParaRPr lang="en-US" sz="1200" dirty="0"/>
          </a:p>
        </p:txBody>
      </p:sp>
      <p:sp>
        <p:nvSpPr>
          <p:cNvPr id="18" name="Text 1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24</a:t>
            </a:r>
            <a:endParaRPr lang="en-US" sz="900" dirty="0"/>
          </a:p>
        </p:txBody>
      </p:sp>
      <p:sp>
        <p:nvSpPr>
          <p:cNvPr id="19" name="Text 17"/>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Hugging Face Pipelines : le NLP en 1 ligne</a:t>
            </a:r>
            <a:endParaRPr lang="en-US" sz="2400" dirty="0"/>
          </a:p>
        </p:txBody>
      </p:sp>
      <p:sp>
        <p:nvSpPr>
          <p:cNvPr id="3" name="Shape 1"/>
          <p:cNvSpPr/>
          <p:nvPr/>
        </p:nvSpPr>
        <p:spPr>
          <a:xfrm>
            <a:off x="365760" y="868680"/>
            <a:ext cx="8412480" cy="3931920"/>
          </a:xfrm>
          <a:prstGeom prst="rect">
            <a:avLst/>
          </a:prstGeom>
          <a:solidFill>
            <a:srgbClr val="1E293B"/>
          </a:solidFill>
          <a:ln/>
        </p:spPr>
      </p:sp>
      <p:sp>
        <p:nvSpPr>
          <p:cNvPr id="4" name="Text 2"/>
          <p:cNvSpPr/>
          <p:nvPr/>
        </p:nvSpPr>
        <p:spPr>
          <a:xfrm>
            <a:off x="640080" y="960120"/>
            <a:ext cx="7863840" cy="3749040"/>
          </a:xfrm>
          <a:prstGeom prst="rect">
            <a:avLst/>
          </a:prstGeom>
          <a:noFill/>
          <a:ln/>
        </p:spPr>
        <p:txBody>
          <a:bodyPr wrap="square" rtlCol="0" anchor="t"/>
          <a:lstStyle/>
          <a:p>
            <a:pPr marL="0" indent="0">
              <a:buNone/>
            </a:pPr>
            <a:r>
              <a:rPr lang="en-US" sz="1150" dirty="0">
                <a:solidFill>
                  <a:srgbClr val="E2E8F0"/>
                </a:solidFill>
                <a:latin typeface="Consolas" pitchFamily="34" charset="0"/>
                <a:ea typeface="Consolas" pitchFamily="34" charset="-122"/>
                <a:cs typeface="Consolas" pitchFamily="34" charset="-120"/>
              </a:rPr>
              <a:t>from transformers import pipeline</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Analyse de sentiment</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classifier = pipeline("sentiment-analysis")</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classifier("I love this movie!")  # {label: POSITIVE, score: 0.99}</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Traduction anglais → français</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translator = pipeline("translation_en_to_fr")</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translator("Hello, how are you?")  # "Bonjour, comment allez-vous ?"</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Résumé automatique</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summarizer = pipeline("summarization")</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summarizer(long_article)  # Résumé en quelques phrases</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Classification sans entraînement (zero-shot)</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zs = pipeline("zero-shot-classification")</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zs("iPhone broken", candidate_labels=["urgent", "not urgent"])</a:t>
            </a:r>
            <a:endParaRPr lang="en-US" sz="115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24</a:t>
            </a:r>
            <a:endParaRPr lang="en-US" sz="900" dirty="0"/>
          </a:p>
        </p:txBody>
      </p:sp>
      <p:sp>
        <p:nvSpPr>
          <p:cNvPr id="6" name="Text 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Toutes les tâches disponibles en pipeline</a:t>
            </a:r>
            <a:endParaRPr lang="en-US" sz="26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Chaque pipeline télécharge automatiquement le bon modèle. Aucun entraînement nécessaire !</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8595360" cy="2926080"/>
        </p:xfrm>
        <a:graphic>
          <a:graphicData uri="http://schemas.openxmlformats.org/drawingml/2006/table">
            <a:tbl>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Tâche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Pipeline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Exemple d'utilisation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Sentiment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sentiment-analysis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Savoir si un avis client est positif ou négatif</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Résumé</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summarization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Résumer un long article en quelques phrases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Traduction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translation_en_to_fr</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Traduire un texte d'une langue à une autre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Génération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text-generation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Compléter un texte (comme ChatGPT)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Zero-shot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zero-shot-classification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Classifier sans entraînement : urgent/pas urgent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Q&amp;A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question-answering</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Répondre à une question sur un texte donné</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token-classification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Détecter les noms, lieux, organisations dans un texte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457200" y="4343400"/>
            <a:ext cx="8229600" cy="365760"/>
          </a:xfrm>
          <a:prstGeom prst="rect">
            <a:avLst/>
          </a:prstGeom>
          <a:noFill/>
          <a:ln/>
        </p:spPr>
        <p:txBody>
          <a:bodyPr wrap="square" rtlCol="0" anchor="ctr"/>
          <a:lstStyle/>
          <a:p>
            <a:pPr marL="0" indent="0">
              <a:buNone/>
            </a:pPr>
            <a:r>
              <a:rPr lang="en-US" sz="1200" i="1" dirty="0">
                <a:solidFill>
                  <a:srgbClr val="6D2E46"/>
                </a:solidFill>
                <a:latin typeface="Calibri" pitchFamily="34" charset="0"/>
                <a:ea typeface="Calibri" pitchFamily="34" charset="-122"/>
                <a:cs typeface="Calibri" pitchFamily="34" charset="-120"/>
              </a:rPr>
              <a:t>Le zero-shot est particulièrement impressionnant : il classifie du texte dans des catégories que le modèle n'a jamais vues !</a:t>
            </a:r>
            <a:endParaRPr lang="en-US" sz="12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24</a:t>
            </a:r>
            <a:endParaRPr lang="en-US" sz="900" dirty="0"/>
          </a:p>
        </p:txBody>
      </p:sp>
      <p:sp>
        <p:nvSpPr>
          <p:cNvPr id="7" name="Text 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Les modèles NLP &amp; IA populaires</a:t>
            </a:r>
            <a:endParaRPr lang="en-US" sz="26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Les modèles utilisés par les data scientists au quotidien. Tous disponibles sur Hugging Face :</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8595360" cy="3035808"/>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Modèle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Créé par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Cas d'usage typique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Particularité</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BERT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Google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Classification, NER, Q&amp;A, recherche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Comprend le contexte bidirectionnel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GPT-4 / GPT-4o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Génération de texte, chatbot, code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 plus puissant en génération (ChatGPT)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LLaMA 3 / Mistral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Meta / Mistral 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Chatbot, raisonnement, code (open-source)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Gratuit, déployable en local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T5 / FLAN-T5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Google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Traduction, résumé, reformulation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Tout est une tâche texte → texte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Whisper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Transcription audio → texte (speech-to-text)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Multilingue, gratuit, très précis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CLIP</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Recherche d'images par texte, zero-shot vision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Comprend images ET texte ensemble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CamemBERT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INRIA / Facebook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NLP en français (sentiment, NER, classification)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BERT spécialisé pour le français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24</a:t>
            </a:r>
            <a:endParaRPr lang="en-US" sz="900" dirty="0"/>
          </a:p>
        </p:txBody>
      </p:sp>
      <p:sp>
        <p:nvSpPr>
          <p:cNvPr id="6" name="Text 3"/>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Quel modèle NLP choisir ? Guide pratique</a:t>
            </a:r>
            <a:endParaRPr lang="en-US" sz="28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Choisissez en fonction de votre tâche et de vos ressources :</a:t>
            </a:r>
            <a:endParaRPr lang="en-US" sz="1300" dirty="0"/>
          </a:p>
        </p:txBody>
      </p:sp>
      <p:sp>
        <p:nvSpPr>
          <p:cNvPr id="4" name="Shape 2"/>
          <p:cNvSpPr/>
          <p:nvPr/>
        </p:nvSpPr>
        <p:spPr>
          <a:xfrm>
            <a:off x="274320" y="1280160"/>
            <a:ext cx="8595360" cy="621792"/>
          </a:xfrm>
          <a:prstGeom prst="rect">
            <a:avLst/>
          </a:prstGeom>
          <a:solidFill>
            <a:srgbClr val="FBF3F6"/>
          </a:solidFill>
          <a:ln/>
        </p:spPr>
      </p:sp>
      <p:sp>
        <p:nvSpPr>
          <p:cNvPr id="5" name="Text 3"/>
          <p:cNvSpPr/>
          <p:nvPr/>
        </p:nvSpPr>
        <p:spPr>
          <a:xfrm>
            <a:off x="365760" y="12984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Analyser des avis / tweets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(positif, négatif, neutre)</a:t>
            </a:r>
            <a:endParaRPr lang="en-US" sz="1050" dirty="0"/>
          </a:p>
        </p:txBody>
      </p:sp>
      <p:sp>
        <p:nvSpPr>
          <p:cNvPr id="6" name="Text 4"/>
          <p:cNvSpPr/>
          <p:nvPr/>
        </p:nvSpPr>
        <p:spPr>
          <a:xfrm>
            <a:off x="2834640" y="12984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BERT ou CamemBERT</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(Hugging Face pipeline)</a:t>
            </a:r>
            <a:endParaRPr lang="en-US" sz="1100" dirty="0"/>
          </a:p>
        </p:txBody>
      </p:sp>
      <p:sp>
        <p:nvSpPr>
          <p:cNvPr id="7" name="Text 5"/>
          <p:cNvSpPr/>
          <p:nvPr/>
        </p:nvSpPr>
        <p:spPr>
          <a:xfrm>
            <a:off x="5394960" y="12984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Précision élevée, une ligne de code. CamemBERT pour le français</a:t>
            </a:r>
            <a:endParaRPr lang="en-US" sz="1050" dirty="0"/>
          </a:p>
        </p:txBody>
      </p:sp>
      <p:sp>
        <p:nvSpPr>
          <p:cNvPr id="8" name="Shape 6"/>
          <p:cNvSpPr/>
          <p:nvPr/>
        </p:nvSpPr>
        <p:spPr>
          <a:xfrm>
            <a:off x="274320" y="1965960"/>
            <a:ext cx="8595360" cy="621792"/>
          </a:xfrm>
          <a:prstGeom prst="rect">
            <a:avLst/>
          </a:prstGeom>
          <a:solidFill>
            <a:srgbClr val="FFFFFF"/>
          </a:solidFill>
          <a:ln/>
        </p:spPr>
      </p:sp>
      <p:sp>
        <p:nvSpPr>
          <p:cNvPr id="9" name="Text 7"/>
          <p:cNvSpPr/>
          <p:nvPr/>
        </p:nvSpPr>
        <p:spPr>
          <a:xfrm>
            <a:off x="365760" y="19842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Chatbot / assistant</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(répondre à des questions)</a:t>
            </a:r>
            <a:endParaRPr lang="en-US" sz="1050" dirty="0"/>
          </a:p>
        </p:txBody>
      </p:sp>
      <p:sp>
        <p:nvSpPr>
          <p:cNvPr id="10" name="Text 8"/>
          <p:cNvSpPr/>
          <p:nvPr/>
        </p:nvSpPr>
        <p:spPr>
          <a:xfrm>
            <a:off x="2834640" y="19842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LLaMA 3 / Mistral</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(open-source, local)</a:t>
            </a:r>
            <a:endParaRPr lang="en-US" sz="1100" dirty="0"/>
          </a:p>
        </p:txBody>
      </p:sp>
      <p:sp>
        <p:nvSpPr>
          <p:cNvPr id="11" name="Text 9"/>
          <p:cNvSpPr/>
          <p:nvPr/>
        </p:nvSpPr>
        <p:spPr>
          <a:xfrm>
            <a:off x="5394960" y="19842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Gratuit, déployable en entreprise, pas besoin d'API payante</a:t>
            </a:r>
            <a:endParaRPr lang="en-US" sz="1050" dirty="0"/>
          </a:p>
        </p:txBody>
      </p:sp>
      <p:sp>
        <p:nvSpPr>
          <p:cNvPr id="12" name="Shape 10"/>
          <p:cNvSpPr/>
          <p:nvPr/>
        </p:nvSpPr>
        <p:spPr>
          <a:xfrm>
            <a:off x="274320" y="2651760"/>
            <a:ext cx="8595360" cy="621792"/>
          </a:xfrm>
          <a:prstGeom prst="rect">
            <a:avLst/>
          </a:prstGeom>
          <a:solidFill>
            <a:srgbClr val="FBF3F6"/>
          </a:solidFill>
          <a:ln/>
        </p:spPr>
      </p:sp>
      <p:sp>
        <p:nvSpPr>
          <p:cNvPr id="13" name="Text 11"/>
          <p:cNvSpPr/>
          <p:nvPr/>
        </p:nvSpPr>
        <p:spPr>
          <a:xfrm>
            <a:off x="365760" y="26700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Traduire du texte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(multi-langues)</a:t>
            </a:r>
            <a:endParaRPr lang="en-US" sz="1050" dirty="0"/>
          </a:p>
        </p:txBody>
      </p:sp>
      <p:sp>
        <p:nvSpPr>
          <p:cNvPr id="14" name="Text 12"/>
          <p:cNvSpPr/>
          <p:nvPr/>
        </p:nvSpPr>
        <p:spPr>
          <a:xfrm>
            <a:off x="2834640" y="26700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Helsinki-NLP/opus-mt</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(Hugging Face)</a:t>
            </a:r>
            <a:endParaRPr lang="en-US" sz="1100" dirty="0"/>
          </a:p>
        </p:txBody>
      </p:sp>
      <p:sp>
        <p:nvSpPr>
          <p:cNvPr id="15" name="Text 13"/>
          <p:cNvSpPr/>
          <p:nvPr/>
        </p:nvSpPr>
        <p:spPr>
          <a:xfrm>
            <a:off x="5394960" y="26700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200+ paires de langues, rapide, gratuit, qualité pro</a:t>
            </a:r>
            <a:endParaRPr lang="en-US" sz="1050" dirty="0"/>
          </a:p>
        </p:txBody>
      </p:sp>
      <p:sp>
        <p:nvSpPr>
          <p:cNvPr id="16" name="Shape 14"/>
          <p:cNvSpPr/>
          <p:nvPr/>
        </p:nvSpPr>
        <p:spPr>
          <a:xfrm>
            <a:off x="274320" y="3337560"/>
            <a:ext cx="8595360" cy="621792"/>
          </a:xfrm>
          <a:prstGeom prst="rect">
            <a:avLst/>
          </a:prstGeom>
          <a:solidFill>
            <a:srgbClr val="FFFFFF"/>
          </a:solidFill>
          <a:ln/>
        </p:spPr>
      </p:sp>
      <p:sp>
        <p:nvSpPr>
          <p:cNvPr id="17" name="Text 15"/>
          <p:cNvSpPr/>
          <p:nvPr/>
        </p:nvSpPr>
        <p:spPr>
          <a:xfrm>
            <a:off x="365760" y="33558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Transcrire de l'audio</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(speech-to-text)</a:t>
            </a:r>
            <a:endParaRPr lang="en-US" sz="1050" dirty="0"/>
          </a:p>
        </p:txBody>
      </p:sp>
      <p:sp>
        <p:nvSpPr>
          <p:cNvPr id="18" name="Text 16"/>
          <p:cNvSpPr/>
          <p:nvPr/>
        </p:nvSpPr>
        <p:spPr>
          <a:xfrm>
            <a:off x="2834640" y="33558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Whisper (OpenAI)</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(pip install openai-whisper)</a:t>
            </a:r>
            <a:endParaRPr lang="en-US" sz="1100" dirty="0"/>
          </a:p>
        </p:txBody>
      </p:sp>
      <p:sp>
        <p:nvSpPr>
          <p:cNvPr id="19" name="Text 17"/>
          <p:cNvSpPr/>
          <p:nvPr/>
        </p:nvSpPr>
        <p:spPr>
          <a:xfrm>
            <a:off x="5394960" y="33558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Multilingue, gratuit, fonctionne même hors-ligne</a:t>
            </a:r>
            <a:endParaRPr lang="en-US" sz="1050" dirty="0"/>
          </a:p>
        </p:txBody>
      </p:sp>
      <p:sp>
        <p:nvSpPr>
          <p:cNvPr id="20" name="Shape 18"/>
          <p:cNvSpPr/>
          <p:nvPr/>
        </p:nvSpPr>
        <p:spPr>
          <a:xfrm>
            <a:off x="274320" y="4023360"/>
            <a:ext cx="8595360" cy="621792"/>
          </a:xfrm>
          <a:prstGeom prst="rect">
            <a:avLst/>
          </a:prstGeom>
          <a:solidFill>
            <a:srgbClr val="FBF3F6"/>
          </a:solidFill>
          <a:ln/>
        </p:spPr>
      </p:sp>
      <p:sp>
        <p:nvSpPr>
          <p:cNvPr id="21" name="Text 19"/>
          <p:cNvSpPr/>
          <p:nvPr/>
        </p:nvSpPr>
        <p:spPr>
          <a:xfrm>
            <a:off x="365760" y="40416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Classifier sans exemples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(zero-shot)</a:t>
            </a:r>
            <a:endParaRPr lang="en-US" sz="1050" dirty="0"/>
          </a:p>
        </p:txBody>
      </p:sp>
      <p:sp>
        <p:nvSpPr>
          <p:cNvPr id="22" name="Text 20"/>
          <p:cNvSpPr/>
          <p:nvPr/>
        </p:nvSpPr>
        <p:spPr>
          <a:xfrm>
            <a:off x="2834640" y="40416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BART-large-mnli</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(zero-shot-classification)</a:t>
            </a:r>
            <a:endParaRPr lang="en-US" sz="1100" dirty="0"/>
          </a:p>
        </p:txBody>
      </p:sp>
      <p:sp>
        <p:nvSpPr>
          <p:cNvPr id="23" name="Text 21"/>
          <p:cNvSpPr/>
          <p:nvPr/>
        </p:nvSpPr>
        <p:spPr>
          <a:xfrm>
            <a:off x="5394960" y="40416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Pas besoin d'entraînement : définir juste les catégories</a:t>
            </a:r>
            <a:endParaRPr lang="en-US" sz="1050" dirty="0"/>
          </a:p>
        </p:txBody>
      </p:sp>
      <p:sp>
        <p:nvSpPr>
          <p:cNvPr id="24" name="Shape 22"/>
          <p:cNvSpPr/>
          <p:nvPr/>
        </p:nvSpPr>
        <p:spPr>
          <a:xfrm>
            <a:off x="365760" y="4754880"/>
            <a:ext cx="8412480" cy="274320"/>
          </a:xfrm>
          <a:prstGeom prst="rect">
            <a:avLst/>
          </a:prstGeom>
          <a:solidFill>
            <a:srgbClr val="FEF3C7"/>
          </a:solidFill>
          <a:ln/>
        </p:spPr>
      </p:sp>
      <p:sp>
        <p:nvSpPr>
          <p:cNvPr id="25" name="Text 23"/>
          <p:cNvSpPr/>
          <p:nvPr/>
        </p:nvSpPr>
        <p:spPr>
          <a:xfrm>
            <a:off x="548640" y="4754880"/>
            <a:ext cx="8046720" cy="274320"/>
          </a:xfrm>
          <a:prstGeom prst="rect">
            <a:avLst/>
          </a:prstGeom>
          <a:noFill/>
          <a:ln/>
        </p:spPr>
        <p:txBody>
          <a:bodyPr wrap="square" rtlCol="0" anchor="ctr"/>
          <a:lstStyle/>
          <a:p>
            <a:pPr marL="0" indent="0">
              <a:buNone/>
            </a:pPr>
            <a:r>
              <a:rPr lang="en-US" sz="1100" dirty="0">
                <a:solidFill>
                  <a:srgbClr val="92400E"/>
                </a:solidFill>
                <a:latin typeface="Calibri" pitchFamily="34" charset="0"/>
                <a:ea typeface="Calibri" pitchFamily="34" charset="-122"/>
                <a:cs typeface="Calibri" pitchFamily="34" charset="-120"/>
              </a:rPr>
              <a:t>💡 Règle d'or : utilisez toujours un modèle pré-entraîné via Hugging Face avant d'entraîner le vôtre !</a:t>
            </a:r>
            <a:endParaRPr lang="en-US" sz="1100" dirty="0"/>
          </a:p>
        </p:txBody>
      </p:sp>
      <p:sp>
        <p:nvSpPr>
          <p:cNvPr id="26" name="Text 24"/>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3 : Frameworks &amp; Outils Modernes</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TensorFlow, PyTorch, Keras, et les outils MLOps</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14 /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300" b="1" dirty="0">
                <a:solidFill>
                  <a:srgbClr val="3D1329"/>
                </a:solidFill>
                <a:latin typeface="Georgia" pitchFamily="34" charset="0"/>
                <a:ea typeface="Georgia" pitchFamily="34" charset="-122"/>
                <a:cs typeface="Georgia" pitchFamily="34" charset="-120"/>
              </a:rPr>
              <a:t>TensorFlow vs PyTorch vs Keras : lequel choisir ?</a:t>
            </a:r>
            <a:endParaRPr lang="en-US" sz="23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Les trois frameworks les plus populaires. Chacun a ses forces :</a:t>
            </a:r>
            <a:endParaRPr lang="en-US" sz="1300" dirty="0"/>
          </a:p>
        </p:txBody>
      </p:sp>
      <p:sp>
        <p:nvSpPr>
          <p:cNvPr id="4" name="Shape 2"/>
          <p:cNvSpPr/>
          <p:nvPr/>
        </p:nvSpPr>
        <p:spPr>
          <a:xfrm>
            <a:off x="182880" y="1234440"/>
            <a:ext cx="2834640" cy="3017520"/>
          </a:xfrm>
          <a:prstGeom prst="rect">
            <a:avLst/>
          </a:prstGeom>
          <a:solidFill>
            <a:srgbClr val="FBF3F6"/>
          </a:solidFill>
          <a:ln/>
          <a:effectLst>
            <a:outerShdw blurRad="76200" dist="25400" dir="8100000" algn="bl" rotWithShape="0">
              <a:srgbClr val="000000">
                <a:alpha val="12000"/>
              </a:srgbClr>
            </a:outerShdw>
          </a:effectLst>
        </p:spPr>
      </p:sp>
      <p:sp>
        <p:nvSpPr>
          <p:cNvPr id="5" name="Shape 3"/>
          <p:cNvSpPr/>
          <p:nvPr/>
        </p:nvSpPr>
        <p:spPr>
          <a:xfrm>
            <a:off x="182880" y="1234440"/>
            <a:ext cx="2834640" cy="457200"/>
          </a:xfrm>
          <a:prstGeom prst="rect">
            <a:avLst/>
          </a:prstGeom>
          <a:solidFill>
            <a:srgbClr val="059669"/>
          </a:solidFill>
          <a:ln/>
        </p:spPr>
      </p:sp>
      <p:sp>
        <p:nvSpPr>
          <p:cNvPr id="6" name="Text 4"/>
          <p:cNvSpPr/>
          <p:nvPr/>
        </p:nvSpPr>
        <p:spPr>
          <a:xfrm>
            <a:off x="182880" y="1234440"/>
            <a:ext cx="28346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Keras</a:t>
            </a:r>
            <a:endParaRPr lang="en-US" sz="1600" dirty="0"/>
          </a:p>
        </p:txBody>
      </p:sp>
      <p:sp>
        <p:nvSpPr>
          <p:cNvPr id="7" name="Text 5"/>
          <p:cNvSpPr/>
          <p:nvPr/>
        </p:nvSpPr>
        <p:spPr>
          <a:xfrm>
            <a:off x="320040" y="1828800"/>
            <a:ext cx="2560320" cy="146304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Le plus simple. Idéal pour débuter et prototyper rapidement. Quelques lignes suffisent pour créer un modèle. Intégré dans TensorFlow.</a:t>
            </a:r>
            <a:endParaRPr lang="en-US" sz="1150" dirty="0"/>
          </a:p>
        </p:txBody>
      </p:sp>
      <p:sp>
        <p:nvSpPr>
          <p:cNvPr id="8" name="Shape 6"/>
          <p:cNvSpPr/>
          <p:nvPr/>
        </p:nvSpPr>
        <p:spPr>
          <a:xfrm>
            <a:off x="457200" y="3474720"/>
            <a:ext cx="2286000" cy="594360"/>
          </a:xfrm>
          <a:prstGeom prst="rect">
            <a:avLst/>
          </a:prstGeom>
          <a:solidFill>
            <a:srgbClr val="059669">
              <a:alpha val="12000"/>
            </a:srgbClr>
          </a:solidFill>
          <a:ln/>
        </p:spPr>
      </p:sp>
      <p:sp>
        <p:nvSpPr>
          <p:cNvPr id="9" name="Text 7"/>
          <p:cNvSpPr/>
          <p:nvPr/>
        </p:nvSpPr>
        <p:spPr>
          <a:xfrm>
            <a:off x="457200" y="3474720"/>
            <a:ext cx="2286000" cy="594360"/>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Débutants, prototypage, cours</a:t>
            </a:r>
            <a:endParaRPr lang="en-US" sz="1100" dirty="0"/>
          </a:p>
        </p:txBody>
      </p:sp>
      <p:sp>
        <p:nvSpPr>
          <p:cNvPr id="10" name="Shape 8"/>
          <p:cNvSpPr/>
          <p:nvPr/>
        </p:nvSpPr>
        <p:spPr>
          <a:xfrm>
            <a:off x="3200400" y="1234440"/>
            <a:ext cx="2834640" cy="3017520"/>
          </a:xfrm>
          <a:prstGeom prst="rect">
            <a:avLst/>
          </a:prstGeom>
          <a:solidFill>
            <a:srgbClr val="FBF3F6"/>
          </a:solidFill>
          <a:ln/>
          <a:effectLst>
            <a:outerShdw blurRad="76200" dist="25400" dir="8100000" algn="bl" rotWithShape="0">
              <a:srgbClr val="000000">
                <a:alpha val="12000"/>
              </a:srgbClr>
            </a:outerShdw>
          </a:effectLst>
        </p:spPr>
      </p:sp>
      <p:sp>
        <p:nvSpPr>
          <p:cNvPr id="11" name="Shape 9"/>
          <p:cNvSpPr/>
          <p:nvPr/>
        </p:nvSpPr>
        <p:spPr>
          <a:xfrm>
            <a:off x="3200400" y="1234440"/>
            <a:ext cx="2834640" cy="457200"/>
          </a:xfrm>
          <a:prstGeom prst="rect">
            <a:avLst/>
          </a:prstGeom>
          <a:solidFill>
            <a:srgbClr val="6D2E46"/>
          </a:solidFill>
          <a:ln/>
        </p:spPr>
      </p:sp>
      <p:sp>
        <p:nvSpPr>
          <p:cNvPr id="12" name="Text 10"/>
          <p:cNvSpPr/>
          <p:nvPr/>
        </p:nvSpPr>
        <p:spPr>
          <a:xfrm>
            <a:off x="3200400" y="1234440"/>
            <a:ext cx="28346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TensorFlow</a:t>
            </a:r>
            <a:endParaRPr lang="en-US" sz="1600" dirty="0"/>
          </a:p>
        </p:txBody>
      </p:sp>
      <p:sp>
        <p:nvSpPr>
          <p:cNvPr id="13" name="Text 11"/>
          <p:cNvSpPr/>
          <p:nvPr/>
        </p:nvSpPr>
        <p:spPr>
          <a:xfrm>
            <a:off x="3337560" y="1828800"/>
            <a:ext cx="2560320" cy="146304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Le plus utilisé en production (Google). Très complet : déploiement mobile (TF Lite), serveur (TF Serving), visualisation (TensorBoard).</a:t>
            </a:r>
            <a:endParaRPr lang="en-US" sz="1150" dirty="0"/>
          </a:p>
        </p:txBody>
      </p:sp>
      <p:sp>
        <p:nvSpPr>
          <p:cNvPr id="14" name="Shape 12"/>
          <p:cNvSpPr/>
          <p:nvPr/>
        </p:nvSpPr>
        <p:spPr>
          <a:xfrm>
            <a:off x="3474720" y="3474720"/>
            <a:ext cx="2286000" cy="594360"/>
          </a:xfrm>
          <a:prstGeom prst="rect">
            <a:avLst/>
          </a:prstGeom>
          <a:solidFill>
            <a:srgbClr val="6D2E46">
              <a:alpha val="12000"/>
            </a:srgbClr>
          </a:solidFill>
          <a:ln/>
        </p:spPr>
      </p:sp>
      <p:sp>
        <p:nvSpPr>
          <p:cNvPr id="15" name="Text 13"/>
          <p:cNvSpPr/>
          <p:nvPr/>
        </p:nvSpPr>
        <p:spPr>
          <a:xfrm>
            <a:off x="3474720" y="3474720"/>
            <a:ext cx="2286000" cy="594360"/>
          </a:xfrm>
          <a:prstGeom prst="rect">
            <a:avLst/>
          </a:prstGeom>
          <a:noFill/>
          <a:ln/>
        </p:spPr>
        <p:txBody>
          <a:bodyPr wrap="square" rtlCol="0" anchor="ctr"/>
          <a:lstStyle/>
          <a:p>
            <a:pPr marL="0" indent="0" algn="ctr">
              <a:buNone/>
            </a:pPr>
            <a:r>
              <a:rPr lang="en-US" sz="1100" b="1" dirty="0">
                <a:solidFill>
                  <a:srgbClr val="6D2E46"/>
                </a:solidFill>
                <a:latin typeface="Calibri" pitchFamily="34" charset="0"/>
                <a:ea typeface="Calibri" pitchFamily="34" charset="-122"/>
                <a:cs typeface="Calibri" pitchFamily="34" charset="-120"/>
              </a:rPr>
              <a:t>Production, déploiement, entreprise</a:t>
            </a:r>
            <a:endParaRPr lang="en-US" sz="1100" dirty="0"/>
          </a:p>
        </p:txBody>
      </p:sp>
      <p:sp>
        <p:nvSpPr>
          <p:cNvPr id="16" name="Shape 14"/>
          <p:cNvSpPr/>
          <p:nvPr/>
        </p:nvSpPr>
        <p:spPr>
          <a:xfrm>
            <a:off x="6217920" y="1234440"/>
            <a:ext cx="2834640" cy="3017520"/>
          </a:xfrm>
          <a:prstGeom prst="rect">
            <a:avLst/>
          </a:prstGeom>
          <a:solidFill>
            <a:srgbClr val="FBF3F6"/>
          </a:solidFill>
          <a:ln/>
          <a:effectLst>
            <a:outerShdw blurRad="76200" dist="25400" dir="8100000" algn="bl" rotWithShape="0">
              <a:srgbClr val="000000">
                <a:alpha val="12000"/>
              </a:srgbClr>
            </a:outerShdw>
          </a:effectLst>
        </p:spPr>
      </p:sp>
      <p:sp>
        <p:nvSpPr>
          <p:cNvPr id="17" name="Shape 15"/>
          <p:cNvSpPr/>
          <p:nvPr/>
        </p:nvSpPr>
        <p:spPr>
          <a:xfrm>
            <a:off x="6217920" y="1234440"/>
            <a:ext cx="2834640" cy="457200"/>
          </a:xfrm>
          <a:prstGeom prst="rect">
            <a:avLst/>
          </a:prstGeom>
          <a:solidFill>
            <a:srgbClr val="2563EB"/>
          </a:solidFill>
          <a:ln/>
        </p:spPr>
      </p:sp>
      <p:sp>
        <p:nvSpPr>
          <p:cNvPr id="18" name="Text 16"/>
          <p:cNvSpPr/>
          <p:nvPr/>
        </p:nvSpPr>
        <p:spPr>
          <a:xfrm>
            <a:off x="6217920" y="1234440"/>
            <a:ext cx="28346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PyTorch</a:t>
            </a:r>
            <a:endParaRPr lang="en-US" sz="1600" dirty="0"/>
          </a:p>
        </p:txBody>
      </p:sp>
      <p:sp>
        <p:nvSpPr>
          <p:cNvPr id="19" name="Text 17"/>
          <p:cNvSpPr/>
          <p:nvPr/>
        </p:nvSpPr>
        <p:spPr>
          <a:xfrm>
            <a:off x="6355080" y="1828800"/>
            <a:ext cx="2560320" cy="146304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Favori de la recherche (Meta). Plus flexible et « pythonique ». Débogage facile. Hugging Face est bâti dessus.</a:t>
            </a:r>
            <a:endParaRPr lang="en-US" sz="1150" dirty="0"/>
          </a:p>
        </p:txBody>
      </p:sp>
      <p:sp>
        <p:nvSpPr>
          <p:cNvPr id="20" name="Shape 18"/>
          <p:cNvSpPr/>
          <p:nvPr/>
        </p:nvSpPr>
        <p:spPr>
          <a:xfrm>
            <a:off x="6492240" y="3474720"/>
            <a:ext cx="2286000" cy="594360"/>
          </a:xfrm>
          <a:prstGeom prst="rect">
            <a:avLst/>
          </a:prstGeom>
          <a:solidFill>
            <a:srgbClr val="2563EB">
              <a:alpha val="12000"/>
            </a:srgbClr>
          </a:solidFill>
          <a:ln/>
        </p:spPr>
      </p:sp>
      <p:sp>
        <p:nvSpPr>
          <p:cNvPr id="21" name="Text 19"/>
          <p:cNvSpPr/>
          <p:nvPr/>
        </p:nvSpPr>
        <p:spPr>
          <a:xfrm>
            <a:off x="6492240" y="3474720"/>
            <a:ext cx="2286000" cy="594360"/>
          </a:xfrm>
          <a:prstGeom prst="rect">
            <a:avLst/>
          </a:prstGeom>
          <a:noFill/>
          <a:ln/>
        </p:spPr>
        <p:txBody>
          <a:bodyPr wrap="square" rtlCol="0" anchor="ctr"/>
          <a:lstStyle/>
          <a:p>
            <a:pPr marL="0" indent="0" algn="ctr">
              <a:buNone/>
            </a:pPr>
            <a:r>
              <a:rPr lang="en-US" sz="1100" b="1" dirty="0">
                <a:solidFill>
                  <a:srgbClr val="2563EB"/>
                </a:solidFill>
                <a:latin typeface="Calibri" pitchFamily="34" charset="0"/>
                <a:ea typeface="Calibri" pitchFamily="34" charset="-122"/>
                <a:cs typeface="Calibri" pitchFamily="34" charset="-120"/>
              </a:rPr>
              <a:t>Recherche, Hugging Face, flexibilité</a:t>
            </a:r>
            <a:endParaRPr lang="en-US" sz="1100" dirty="0"/>
          </a:p>
        </p:txBody>
      </p:sp>
      <p:sp>
        <p:nvSpPr>
          <p:cNvPr id="22" name="Text 20"/>
          <p:cNvSpPr/>
          <p:nvPr/>
        </p:nvSpPr>
        <p:spPr>
          <a:xfrm>
            <a:off x="457200" y="4480560"/>
            <a:ext cx="8229600" cy="365760"/>
          </a:xfrm>
          <a:prstGeom prst="rect">
            <a:avLst/>
          </a:prstGeom>
          <a:noFill/>
          <a:ln/>
        </p:spPr>
        <p:txBody>
          <a:bodyPr wrap="square" rtlCol="0" anchor="ctr"/>
          <a:lstStyle/>
          <a:p>
            <a:pPr marL="0" indent="0">
              <a:buNone/>
            </a:pPr>
            <a:r>
              <a:rPr lang="en-US" sz="1200" i="1" dirty="0">
                <a:solidFill>
                  <a:srgbClr val="6D2E46"/>
                </a:solidFill>
                <a:latin typeface="Calibri" pitchFamily="34" charset="0"/>
                <a:ea typeface="Calibri" pitchFamily="34" charset="-122"/>
                <a:cs typeface="Calibri" pitchFamily="34" charset="-120"/>
              </a:rPr>
              <a:t>Pour ce cours : on utilise Keras (simple) + Hugging Face (puissant). En entreprise, le choix dépend du contexte.</a:t>
            </a:r>
            <a:endParaRPr lang="en-US" sz="1200" dirty="0"/>
          </a:p>
        </p:txBody>
      </p:sp>
      <p:sp>
        <p:nvSpPr>
          <p:cNvPr id="23" name="Text 2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24</a:t>
            </a:r>
            <a:endParaRPr lang="en-US" sz="900" dirty="0"/>
          </a:p>
        </p:txBody>
      </p:sp>
      <p:sp>
        <p:nvSpPr>
          <p:cNvPr id="24" name="Text 22"/>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Keras vs PyTorch : même modèle, deux styles</a:t>
            </a:r>
            <a:endParaRPr lang="en-US" sz="2400" dirty="0"/>
          </a:p>
        </p:txBody>
      </p:sp>
      <p:sp>
        <p:nvSpPr>
          <p:cNvPr id="3" name="Text 1"/>
          <p:cNvSpPr/>
          <p:nvPr/>
        </p:nvSpPr>
        <p:spPr>
          <a:xfrm>
            <a:off x="274320" y="868680"/>
            <a:ext cx="4114800" cy="320040"/>
          </a:xfrm>
          <a:prstGeom prst="rect">
            <a:avLst/>
          </a:prstGeom>
          <a:noFill/>
          <a:ln/>
        </p:spPr>
        <p:txBody>
          <a:bodyPr wrap="square"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Keras (simple)</a:t>
            </a:r>
            <a:endParaRPr lang="en-US" sz="1400" dirty="0"/>
          </a:p>
        </p:txBody>
      </p:sp>
      <p:sp>
        <p:nvSpPr>
          <p:cNvPr id="4" name="Shape 2"/>
          <p:cNvSpPr/>
          <p:nvPr/>
        </p:nvSpPr>
        <p:spPr>
          <a:xfrm>
            <a:off x="274320" y="1188720"/>
            <a:ext cx="4114800" cy="2103120"/>
          </a:xfrm>
          <a:prstGeom prst="rect">
            <a:avLst/>
          </a:prstGeom>
          <a:solidFill>
            <a:srgbClr val="1E293B"/>
          </a:solidFill>
          <a:ln/>
        </p:spPr>
      </p:sp>
      <p:sp>
        <p:nvSpPr>
          <p:cNvPr id="5" name="Text 3"/>
          <p:cNvSpPr/>
          <p:nvPr/>
        </p:nvSpPr>
        <p:spPr>
          <a:xfrm>
            <a:off x="457200" y="1280160"/>
            <a:ext cx="3749040" cy="1920240"/>
          </a:xfrm>
          <a:prstGeom prst="rect">
            <a:avLst/>
          </a:prstGeom>
          <a:noFill/>
          <a:ln/>
        </p:spPr>
        <p:txBody>
          <a:bodyPr wrap="square" rtlCol="0" anchor="ctr"/>
          <a:lstStyle/>
          <a:p>
            <a:pPr marL="0" indent="0">
              <a:buNone/>
            </a:pPr>
            <a:r>
              <a:rPr lang="en-US" sz="1050" dirty="0">
                <a:solidFill>
                  <a:srgbClr val="E2E8F0"/>
                </a:solidFill>
                <a:latin typeface="Consolas" pitchFamily="34" charset="0"/>
                <a:ea typeface="Consolas" pitchFamily="34" charset="-122"/>
                <a:cs typeface="Consolas" pitchFamily="34" charset="-120"/>
              </a:rPr>
              <a:t>model = Sequential([</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Dense(64, activation='relu'),</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Dense(1, activation='sigmoid')</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model.compile(optimizer='adam',</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loss='binary_crossentropy')</a:t>
            </a:r>
            <a:endParaRPr lang="en-US" sz="1050" dirty="0"/>
          </a:p>
          <a:p>
            <a:pPr marL="0" indent="0">
              <a:buNone/>
            </a:pPr>
            <a:r>
              <a:rPr lang="en-US" sz="1050" dirty="0">
                <a:solidFill>
                  <a:srgbClr val="FDE68A"/>
                </a:solidFill>
                <a:latin typeface="Consolas" pitchFamily="34" charset="0"/>
                <a:ea typeface="Consolas" pitchFamily="34" charset="-122"/>
                <a:cs typeface="Consolas" pitchFamily="34" charset="-120"/>
              </a:rPr>
              <a:t>model.fit(X, y, epochs=5)</a:t>
            </a:r>
            <a:endParaRPr lang="en-US" sz="1050" dirty="0"/>
          </a:p>
          <a:p>
            <a:pPr marL="0" indent="0">
              <a:buNone/>
            </a:pPr>
            <a:r>
              <a:rPr lang="en-US" sz="1050" dirty="0">
                <a:solidFill>
                  <a:srgbClr val="6EE7B7"/>
                </a:solidFill>
                <a:latin typeface="Consolas" pitchFamily="34" charset="0"/>
                <a:ea typeface="Consolas" pitchFamily="34" charset="-122"/>
                <a:cs typeface="Consolas" pitchFamily="34" charset="-120"/>
              </a:rPr>
              <a:t># C'est tout !</a:t>
            </a:r>
            <a:endParaRPr lang="en-US" sz="1050" dirty="0"/>
          </a:p>
        </p:txBody>
      </p:sp>
      <p:sp>
        <p:nvSpPr>
          <p:cNvPr id="6" name="Text 4"/>
          <p:cNvSpPr/>
          <p:nvPr/>
        </p:nvSpPr>
        <p:spPr>
          <a:xfrm>
            <a:off x="4754880" y="868680"/>
            <a:ext cx="4114800" cy="320040"/>
          </a:xfrm>
          <a:prstGeom prst="rect">
            <a:avLst/>
          </a:prstGeom>
          <a:noFill/>
          <a:ln/>
        </p:spPr>
        <p:txBody>
          <a:bodyPr wrap="square"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PyTorch (flexible)</a:t>
            </a:r>
            <a:endParaRPr lang="en-US" sz="1400" dirty="0"/>
          </a:p>
        </p:txBody>
      </p:sp>
      <p:sp>
        <p:nvSpPr>
          <p:cNvPr id="7" name="Shape 5"/>
          <p:cNvSpPr/>
          <p:nvPr/>
        </p:nvSpPr>
        <p:spPr>
          <a:xfrm>
            <a:off x="4754880" y="1188720"/>
            <a:ext cx="4114800" cy="2103120"/>
          </a:xfrm>
          <a:prstGeom prst="rect">
            <a:avLst/>
          </a:prstGeom>
          <a:solidFill>
            <a:srgbClr val="1E293B"/>
          </a:solidFill>
          <a:ln/>
        </p:spPr>
      </p:sp>
      <p:sp>
        <p:nvSpPr>
          <p:cNvPr id="8" name="Text 6"/>
          <p:cNvSpPr/>
          <p:nvPr/>
        </p:nvSpPr>
        <p:spPr>
          <a:xfrm>
            <a:off x="4937760" y="1280160"/>
            <a:ext cx="3749040" cy="1920240"/>
          </a:xfrm>
          <a:prstGeom prst="rect">
            <a:avLst/>
          </a:prstGeom>
          <a:noFill/>
          <a:ln/>
        </p:spPr>
        <p:txBody>
          <a:bodyPr wrap="square" rtlCol="0" anchor="ctr"/>
          <a:lstStyle/>
          <a:p>
            <a:pPr marL="0" indent="0">
              <a:buNone/>
            </a:pPr>
            <a:r>
              <a:rPr lang="en-US" sz="1050" dirty="0">
                <a:solidFill>
                  <a:srgbClr val="E2E8F0"/>
                </a:solidFill>
                <a:latin typeface="Consolas" pitchFamily="34" charset="0"/>
                <a:ea typeface="Consolas" pitchFamily="34" charset="-122"/>
                <a:cs typeface="Consolas" pitchFamily="34" charset="-120"/>
              </a:rPr>
              <a:t>class Net(nn.Module):</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def __init__(self):</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self.fc1 = nn.Linear(10, 64)</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self.fc2 = nn.Linear(64, 1)</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def forward(self, x):</a:t>
            </a:r>
            <a:endParaRPr lang="en-US" sz="1050" dirty="0"/>
          </a:p>
          <a:p>
            <a:pPr marL="0" indent="0">
              <a:buNone/>
            </a:pPr>
            <a:r>
              <a:rPr lang="en-US" sz="1050" dirty="0">
                <a:solidFill>
                  <a:srgbClr val="FDE68A"/>
                </a:solidFill>
                <a:latin typeface="Consolas" pitchFamily="34" charset="0"/>
                <a:ea typeface="Consolas" pitchFamily="34" charset="-122"/>
                <a:cs typeface="Consolas" pitchFamily="34" charset="-120"/>
              </a:rPr>
              <a:t>    return sigmoid(relu(self.fc1(x)))</a:t>
            </a:r>
            <a:endParaRPr lang="en-US" sz="1050" dirty="0"/>
          </a:p>
          <a:p>
            <a:pPr marL="0" indent="0">
              <a:buNone/>
            </a:pPr>
            <a:r>
              <a:rPr lang="en-US" sz="1050" dirty="0">
                <a:solidFill>
                  <a:srgbClr val="6EE7B7"/>
                </a:solidFill>
                <a:latin typeface="Consolas" pitchFamily="34" charset="0"/>
                <a:ea typeface="Consolas" pitchFamily="34" charset="-122"/>
                <a:cs typeface="Consolas" pitchFamily="34" charset="-120"/>
              </a:rPr>
              <a:t># + boucle d'entraînement manuelle</a:t>
            </a:r>
            <a:endParaRPr lang="en-US" sz="1050" dirty="0"/>
          </a:p>
          <a:p>
            <a:pPr marL="0" indent="0">
              <a:buNone/>
            </a:pPr>
            <a:r>
              <a:rPr lang="en-US" sz="1050" dirty="0">
                <a:solidFill>
                  <a:srgbClr val="6EE7B7"/>
                </a:solidFill>
                <a:latin typeface="Consolas" pitchFamily="34" charset="0"/>
                <a:ea typeface="Consolas" pitchFamily="34" charset="-122"/>
                <a:cs typeface="Consolas" pitchFamily="34" charset="-120"/>
              </a:rPr>
              <a:t># (optimizer.zero_grad, loss, backward)</a:t>
            </a:r>
            <a:endParaRPr lang="en-US" sz="1050" dirty="0"/>
          </a:p>
        </p:txBody>
      </p:sp>
      <p:sp>
        <p:nvSpPr>
          <p:cNvPr id="9" name="Shape 7"/>
          <p:cNvSpPr/>
          <p:nvPr/>
        </p:nvSpPr>
        <p:spPr>
          <a:xfrm>
            <a:off x="365760" y="3520440"/>
            <a:ext cx="8412480" cy="1188720"/>
          </a:xfrm>
          <a:prstGeom prst="rect">
            <a:avLst/>
          </a:prstGeom>
          <a:solidFill>
            <a:srgbClr val="FCF0F4"/>
          </a:solidFill>
          <a:ln/>
        </p:spPr>
      </p:sp>
      <p:sp>
        <p:nvSpPr>
          <p:cNvPr id="10" name="Text 8"/>
          <p:cNvSpPr/>
          <p:nvPr/>
        </p:nvSpPr>
        <p:spPr>
          <a:xfrm>
            <a:off x="548640" y="3566160"/>
            <a:ext cx="8046720" cy="1097280"/>
          </a:xfrm>
          <a:prstGeom prst="rect">
            <a:avLst/>
          </a:prstGeom>
          <a:noFill/>
          <a:ln/>
        </p:spPr>
        <p:txBody>
          <a:bodyPr wrap="square" rtlCol="0" anchor="ctr"/>
          <a:lstStyle/>
          <a:p>
            <a:pPr marL="0" indent="0">
              <a:buNone/>
            </a:pPr>
            <a:r>
              <a:rPr lang="en-US" b="1" dirty="0">
                <a:solidFill>
                  <a:srgbClr val="059669"/>
                </a:solidFill>
                <a:latin typeface="Calibri" pitchFamily="34" charset="0"/>
                <a:ea typeface="Calibri" pitchFamily="34" charset="-122"/>
                <a:cs typeface="Calibri" pitchFamily="34" charset="-120"/>
              </a:rPr>
              <a:t>Keras</a:t>
            </a:r>
            <a:r>
              <a:rPr lang="en-US" sz="1200" dirty="0">
                <a:solidFill>
                  <a:srgbClr val="1E293B"/>
                </a:solidFill>
                <a:latin typeface="Calibri" pitchFamily="34" charset="0"/>
                <a:ea typeface="Calibri" pitchFamily="34" charset="-122"/>
                <a:cs typeface="Calibri" pitchFamily="34" charset="-120"/>
              </a:rPr>
              <a:t> : plus concis, model.compile() + model.fit() font tout le travail. Idéal pour commencer.</a:t>
            </a:r>
            <a:endParaRPr lang="en-US" sz="1200" dirty="0"/>
          </a:p>
          <a:p>
            <a:pPr marL="0" indent="0">
              <a:buNone/>
            </a:pPr>
            <a:r>
              <a:rPr lang="en-US" sz="1200" b="1" dirty="0">
                <a:solidFill>
                  <a:srgbClr val="2563EB"/>
                </a:solidFill>
                <a:latin typeface="Calibri" pitchFamily="34" charset="0"/>
                <a:ea typeface="Calibri" pitchFamily="34" charset="-122"/>
                <a:cs typeface="Calibri" pitchFamily="34" charset="-120"/>
              </a:rPr>
              <a:t>PyTorch</a:t>
            </a:r>
            <a:r>
              <a:rPr lang="en-US" sz="1200" dirty="0">
                <a:solidFill>
                  <a:srgbClr val="1E293B"/>
                </a:solidFill>
                <a:latin typeface="Calibri" pitchFamily="34" charset="0"/>
                <a:ea typeface="Calibri" pitchFamily="34" charset="-122"/>
                <a:cs typeface="Calibri" pitchFamily="34" charset="-120"/>
              </a:rPr>
              <a:t> : plus de contrôle, il faut écrire la boucle d'entraînement soi-même. Idéal quand on veut comprendre ou personnaliser.</a:t>
            </a:r>
            <a:endParaRPr lang="en-US" sz="1200" dirty="0"/>
          </a:p>
          <a:p>
            <a:pPr marL="0" indent="0">
              <a:buNone/>
            </a:pP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Les deux arrivent au même résultat. Le choix dépend de votre contexte et de votre équipe.</a:t>
            </a:r>
            <a:endParaRPr lang="en-US" sz="1200" dirty="0"/>
          </a:p>
        </p:txBody>
      </p:sp>
      <p:sp>
        <p:nvSpPr>
          <p:cNvPr id="11" name="Text 9"/>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24</a:t>
            </a:r>
            <a:endParaRPr lang="en-US" sz="900" dirty="0"/>
          </a:p>
        </p:txBody>
      </p:sp>
      <p:sp>
        <p:nvSpPr>
          <p:cNvPr id="12" name="Text 10"/>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Outils MLOps : gérer vos projets IA comme un pro</a:t>
            </a:r>
            <a:endParaRPr lang="en-US" sz="24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En entreprise, entraîner un modèle c'est 20% du travail. Le reste c'est de la gestion. Voici les outils qui aident :</a:t>
            </a:r>
            <a:endParaRPr lang="en-US" sz="1300" dirty="0"/>
          </a:p>
        </p:txBody>
      </p:sp>
      <p:sp>
        <p:nvSpPr>
          <p:cNvPr id="4" name="Shape 2"/>
          <p:cNvSpPr/>
          <p:nvPr/>
        </p:nvSpPr>
        <p:spPr>
          <a:xfrm>
            <a:off x="365760" y="1280160"/>
            <a:ext cx="8412480" cy="960120"/>
          </a:xfrm>
          <a:prstGeom prst="rect">
            <a:avLst/>
          </a:prstGeom>
          <a:solidFill>
            <a:srgbClr val="FBF3F6"/>
          </a:solidFill>
          <a:ln/>
          <a:effectLst>
            <a:outerShdw blurRad="76200" dist="25400" dir="8100000" algn="bl" rotWithShape="0">
              <a:srgbClr val="000000">
                <a:alpha val="12000"/>
              </a:srgbClr>
            </a:outerShdw>
          </a:effectLst>
        </p:spPr>
      </p:sp>
      <p:sp>
        <p:nvSpPr>
          <p:cNvPr id="5" name="Shape 3"/>
          <p:cNvSpPr/>
          <p:nvPr/>
        </p:nvSpPr>
        <p:spPr>
          <a:xfrm>
            <a:off x="365760" y="1280160"/>
            <a:ext cx="73152" cy="960120"/>
          </a:xfrm>
          <a:prstGeom prst="rect">
            <a:avLst/>
          </a:prstGeom>
          <a:solidFill>
            <a:srgbClr val="6D2E46"/>
          </a:solidFill>
          <a:ln/>
        </p:spPr>
      </p:sp>
      <p:sp>
        <p:nvSpPr>
          <p:cNvPr id="6" name="Text 4"/>
          <p:cNvSpPr/>
          <p:nvPr/>
        </p:nvSpPr>
        <p:spPr>
          <a:xfrm>
            <a:off x="640080" y="1325880"/>
            <a:ext cx="2286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MLflow</a:t>
            </a:r>
            <a:endParaRPr lang="en-US" sz="1500" dirty="0"/>
          </a:p>
        </p:txBody>
      </p:sp>
      <p:sp>
        <p:nvSpPr>
          <p:cNvPr id="7" name="Text 5"/>
          <p:cNvSpPr/>
          <p:nvPr/>
        </p:nvSpPr>
        <p:spPr>
          <a:xfrm>
            <a:off x="640080" y="1627632"/>
            <a:ext cx="53035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Logger vos expériences (paramètres, métriques), versionner vos modèles, les déployer. Open-source et gratuit.</a:t>
            </a:r>
            <a:endParaRPr lang="en-US" sz="1100" dirty="0"/>
          </a:p>
        </p:txBody>
      </p:sp>
      <p:sp>
        <p:nvSpPr>
          <p:cNvPr id="8" name="Shape 6"/>
          <p:cNvSpPr/>
          <p:nvPr/>
        </p:nvSpPr>
        <p:spPr>
          <a:xfrm>
            <a:off x="6035040" y="1508760"/>
            <a:ext cx="2560320" cy="457200"/>
          </a:xfrm>
          <a:prstGeom prst="rect">
            <a:avLst/>
          </a:prstGeom>
          <a:solidFill>
            <a:srgbClr val="1E293B"/>
          </a:solidFill>
          <a:ln/>
        </p:spPr>
      </p:sp>
      <p:sp>
        <p:nvSpPr>
          <p:cNvPr id="9" name="Text 7"/>
          <p:cNvSpPr/>
          <p:nvPr/>
        </p:nvSpPr>
        <p:spPr>
          <a:xfrm>
            <a:off x="6126480" y="1508760"/>
            <a:ext cx="2377440" cy="457200"/>
          </a:xfrm>
          <a:prstGeom prst="rect">
            <a:avLst/>
          </a:prstGeom>
          <a:noFill/>
          <a:ln/>
        </p:spPr>
        <p:txBody>
          <a:bodyPr wrap="square" rtlCol="0" anchor="ctr"/>
          <a:lstStyle/>
          <a:p>
            <a:pPr marL="0" indent="0">
              <a:buNone/>
            </a:pPr>
            <a:r>
              <a:rPr lang="en-US" sz="900" dirty="0">
                <a:solidFill>
                  <a:srgbClr val="93C5FD"/>
                </a:solidFill>
                <a:latin typeface="Consolas" pitchFamily="34" charset="0"/>
                <a:ea typeface="Consolas" pitchFamily="34" charset="-122"/>
                <a:cs typeface="Consolas" pitchFamily="34" charset="-120"/>
              </a:rPr>
              <a:t>mlflow.log_metric('accuracy', 0.95)</a:t>
            </a:r>
            <a:endParaRPr lang="en-US" sz="900" dirty="0"/>
          </a:p>
        </p:txBody>
      </p:sp>
      <p:sp>
        <p:nvSpPr>
          <p:cNvPr id="10" name="Shape 8"/>
          <p:cNvSpPr/>
          <p:nvPr/>
        </p:nvSpPr>
        <p:spPr>
          <a:xfrm>
            <a:off x="365760" y="2377440"/>
            <a:ext cx="8412480" cy="960120"/>
          </a:xfrm>
          <a:prstGeom prst="rect">
            <a:avLst/>
          </a:prstGeom>
          <a:solidFill>
            <a:srgbClr val="FBF3F6"/>
          </a:solidFill>
          <a:ln/>
          <a:effectLst>
            <a:outerShdw blurRad="76200" dist="25400" dir="8100000" algn="bl" rotWithShape="0">
              <a:srgbClr val="000000">
                <a:alpha val="12000"/>
              </a:srgbClr>
            </a:outerShdw>
          </a:effectLst>
        </p:spPr>
      </p:sp>
      <p:sp>
        <p:nvSpPr>
          <p:cNvPr id="11" name="Shape 9"/>
          <p:cNvSpPr/>
          <p:nvPr/>
        </p:nvSpPr>
        <p:spPr>
          <a:xfrm>
            <a:off x="365760" y="2377440"/>
            <a:ext cx="73152" cy="960120"/>
          </a:xfrm>
          <a:prstGeom prst="rect">
            <a:avLst/>
          </a:prstGeom>
          <a:solidFill>
            <a:srgbClr val="A26769"/>
          </a:solidFill>
          <a:ln/>
        </p:spPr>
      </p:sp>
      <p:sp>
        <p:nvSpPr>
          <p:cNvPr id="12" name="Text 10"/>
          <p:cNvSpPr/>
          <p:nvPr/>
        </p:nvSpPr>
        <p:spPr>
          <a:xfrm>
            <a:off x="640080" y="2423160"/>
            <a:ext cx="2286000" cy="320040"/>
          </a:xfrm>
          <a:prstGeom prst="rect">
            <a:avLst/>
          </a:prstGeom>
          <a:noFill/>
          <a:ln/>
        </p:spPr>
        <p:txBody>
          <a:bodyPr wrap="square" rtlCol="0" anchor="ctr"/>
          <a:lstStyle/>
          <a:p>
            <a:pPr marL="0" indent="0">
              <a:buNone/>
            </a:pPr>
            <a:r>
              <a:rPr lang="en-US" sz="1500" b="1" dirty="0">
                <a:solidFill>
                  <a:srgbClr val="A26769"/>
                </a:solidFill>
                <a:latin typeface="Calibri" pitchFamily="34" charset="0"/>
                <a:ea typeface="Calibri" pitchFamily="34" charset="-122"/>
                <a:cs typeface="Calibri" pitchFamily="34" charset="-120"/>
              </a:rPr>
              <a:t>Weights &amp; Biases</a:t>
            </a:r>
            <a:endParaRPr lang="en-US" sz="1500" dirty="0"/>
          </a:p>
        </p:txBody>
      </p:sp>
      <p:sp>
        <p:nvSpPr>
          <p:cNvPr id="13" name="Text 11"/>
          <p:cNvSpPr/>
          <p:nvPr/>
        </p:nvSpPr>
        <p:spPr>
          <a:xfrm>
            <a:off x="640080" y="2724912"/>
            <a:ext cx="53035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Dashboards pour suivre vos entraînements en temps réel. Comparaison facile de différentes expériences.</a:t>
            </a:r>
            <a:endParaRPr lang="en-US" sz="1100" dirty="0"/>
          </a:p>
        </p:txBody>
      </p:sp>
      <p:sp>
        <p:nvSpPr>
          <p:cNvPr id="14" name="Shape 12"/>
          <p:cNvSpPr/>
          <p:nvPr/>
        </p:nvSpPr>
        <p:spPr>
          <a:xfrm>
            <a:off x="6035040" y="2606040"/>
            <a:ext cx="2560320" cy="457200"/>
          </a:xfrm>
          <a:prstGeom prst="rect">
            <a:avLst/>
          </a:prstGeom>
          <a:solidFill>
            <a:srgbClr val="1E293B"/>
          </a:solidFill>
          <a:ln/>
        </p:spPr>
      </p:sp>
      <p:sp>
        <p:nvSpPr>
          <p:cNvPr id="15" name="Text 13"/>
          <p:cNvSpPr/>
          <p:nvPr/>
        </p:nvSpPr>
        <p:spPr>
          <a:xfrm>
            <a:off x="6126480" y="2606040"/>
            <a:ext cx="2377440" cy="457200"/>
          </a:xfrm>
          <a:prstGeom prst="rect">
            <a:avLst/>
          </a:prstGeom>
          <a:noFill/>
          <a:ln/>
        </p:spPr>
        <p:txBody>
          <a:bodyPr wrap="square" rtlCol="0" anchor="ctr"/>
          <a:lstStyle/>
          <a:p>
            <a:pPr marL="0" indent="0">
              <a:buNone/>
            </a:pPr>
            <a:r>
              <a:rPr lang="en-US" sz="900" dirty="0">
                <a:solidFill>
                  <a:srgbClr val="93C5FD"/>
                </a:solidFill>
                <a:latin typeface="Consolas" pitchFamily="34" charset="0"/>
                <a:ea typeface="Consolas" pitchFamily="34" charset="-122"/>
                <a:cs typeface="Consolas" pitchFamily="34" charset="-120"/>
              </a:rPr>
              <a:t>wandb.log({'loss': loss, 'acc': acc})</a:t>
            </a:r>
            <a:endParaRPr lang="en-US" sz="900" dirty="0"/>
          </a:p>
        </p:txBody>
      </p:sp>
      <p:sp>
        <p:nvSpPr>
          <p:cNvPr id="16" name="Shape 14"/>
          <p:cNvSpPr/>
          <p:nvPr/>
        </p:nvSpPr>
        <p:spPr>
          <a:xfrm>
            <a:off x="365760" y="3474720"/>
            <a:ext cx="8412480" cy="960120"/>
          </a:xfrm>
          <a:prstGeom prst="rect">
            <a:avLst/>
          </a:prstGeom>
          <a:solidFill>
            <a:srgbClr val="FBF3F6"/>
          </a:solidFill>
          <a:ln/>
          <a:effectLst>
            <a:outerShdw blurRad="76200" dist="25400" dir="8100000" algn="bl" rotWithShape="0">
              <a:srgbClr val="000000">
                <a:alpha val="12000"/>
              </a:srgbClr>
            </a:outerShdw>
          </a:effectLst>
        </p:spPr>
      </p:sp>
      <p:sp>
        <p:nvSpPr>
          <p:cNvPr id="17" name="Shape 15"/>
          <p:cNvSpPr/>
          <p:nvPr/>
        </p:nvSpPr>
        <p:spPr>
          <a:xfrm>
            <a:off x="365760" y="3474720"/>
            <a:ext cx="73152" cy="960120"/>
          </a:xfrm>
          <a:prstGeom prst="rect">
            <a:avLst/>
          </a:prstGeom>
          <a:solidFill>
            <a:srgbClr val="3D1329"/>
          </a:solidFill>
          <a:ln/>
        </p:spPr>
      </p:sp>
      <p:sp>
        <p:nvSpPr>
          <p:cNvPr id="18" name="Text 16"/>
          <p:cNvSpPr/>
          <p:nvPr/>
        </p:nvSpPr>
        <p:spPr>
          <a:xfrm>
            <a:off x="640079" y="3520440"/>
            <a:ext cx="2710543" cy="320040"/>
          </a:xfrm>
          <a:prstGeom prst="rect">
            <a:avLst/>
          </a:prstGeom>
          <a:noFill/>
          <a:ln/>
        </p:spPr>
        <p:txBody>
          <a:bodyPr wrap="square" rtlCol="0" anchor="ctr"/>
          <a:lstStyle/>
          <a:p>
            <a:pPr marL="0" indent="0">
              <a:buNone/>
            </a:pPr>
            <a:r>
              <a:rPr lang="en-US" sz="1500" b="1" dirty="0">
                <a:solidFill>
                  <a:srgbClr val="3D1329"/>
                </a:solidFill>
                <a:latin typeface="Calibri" pitchFamily="34" charset="0"/>
                <a:ea typeface="Calibri" pitchFamily="34" charset="-122"/>
                <a:cs typeface="Calibri" pitchFamily="34" charset="-120"/>
              </a:rPr>
              <a:t>DVC (Data Version Control)</a:t>
            </a:r>
            <a:endParaRPr lang="en-US" sz="1500" dirty="0"/>
          </a:p>
        </p:txBody>
      </p:sp>
      <p:sp>
        <p:nvSpPr>
          <p:cNvPr id="19" name="Text 17"/>
          <p:cNvSpPr/>
          <p:nvPr/>
        </p:nvSpPr>
        <p:spPr>
          <a:xfrm>
            <a:off x="640080" y="3822192"/>
            <a:ext cx="53035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Versionner vos données et pipelines comme du code avec Git. Essentiel pour la reproducibilité.</a:t>
            </a:r>
            <a:endParaRPr lang="en-US" sz="1100" dirty="0"/>
          </a:p>
        </p:txBody>
      </p:sp>
      <p:sp>
        <p:nvSpPr>
          <p:cNvPr id="20" name="Shape 18"/>
          <p:cNvSpPr/>
          <p:nvPr/>
        </p:nvSpPr>
        <p:spPr>
          <a:xfrm>
            <a:off x="6035040" y="3703320"/>
            <a:ext cx="2560320" cy="457200"/>
          </a:xfrm>
          <a:prstGeom prst="rect">
            <a:avLst/>
          </a:prstGeom>
          <a:solidFill>
            <a:srgbClr val="1E293B"/>
          </a:solidFill>
          <a:ln/>
        </p:spPr>
      </p:sp>
      <p:sp>
        <p:nvSpPr>
          <p:cNvPr id="21" name="Text 19"/>
          <p:cNvSpPr/>
          <p:nvPr/>
        </p:nvSpPr>
        <p:spPr>
          <a:xfrm>
            <a:off x="6126480" y="3703320"/>
            <a:ext cx="2377440" cy="457200"/>
          </a:xfrm>
          <a:prstGeom prst="rect">
            <a:avLst/>
          </a:prstGeom>
          <a:noFill/>
          <a:ln/>
        </p:spPr>
        <p:txBody>
          <a:bodyPr wrap="square" rtlCol="0" anchor="ctr"/>
          <a:lstStyle/>
          <a:p>
            <a:pPr marL="0" indent="0">
              <a:buNone/>
            </a:pPr>
            <a:r>
              <a:rPr lang="en-US" sz="900" dirty="0">
                <a:solidFill>
                  <a:srgbClr val="93C5FD"/>
                </a:solidFill>
                <a:latin typeface="Consolas" pitchFamily="34" charset="0"/>
                <a:ea typeface="Consolas" pitchFamily="34" charset="-122"/>
                <a:cs typeface="Consolas" pitchFamily="34" charset="-120"/>
              </a:rPr>
              <a:t>dvc add data/ &amp;&amp; git commit</a:t>
            </a:r>
            <a:endParaRPr lang="en-US" sz="900" dirty="0"/>
          </a:p>
        </p:txBody>
      </p:sp>
      <p:sp>
        <p:nvSpPr>
          <p:cNvPr id="22" name="Text 20"/>
          <p:cNvSpPr/>
          <p:nvPr/>
        </p:nvSpPr>
        <p:spPr>
          <a:xfrm>
            <a:off x="457200" y="4572000"/>
            <a:ext cx="8229600" cy="2743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Ces outils sont utilisés quotidiennement dans les équipes data/ML </a:t>
            </a:r>
            <a:r>
              <a:rPr lang="en-US" sz="1200" i="1" dirty="0" err="1">
                <a:solidFill>
                  <a:srgbClr val="64748B"/>
                </a:solidFill>
                <a:latin typeface="Calibri" pitchFamily="34" charset="0"/>
                <a:ea typeface="Calibri" pitchFamily="34" charset="-122"/>
                <a:cs typeface="Calibri" pitchFamily="34" charset="-120"/>
              </a:rPr>
              <a:t>en</a:t>
            </a:r>
            <a:r>
              <a:rPr lang="en-US" sz="1200" i="1" dirty="0">
                <a:solidFill>
                  <a:srgbClr val="64748B"/>
                </a:solidFill>
                <a:latin typeface="Calibri" pitchFamily="34" charset="0"/>
                <a:ea typeface="Calibri" pitchFamily="34" charset="-122"/>
                <a:cs typeface="Calibri" pitchFamily="34" charset="-120"/>
              </a:rPr>
              <a:t> prod.</a:t>
            </a:r>
            <a:endParaRPr lang="en-US" sz="1200" dirty="0"/>
          </a:p>
        </p:txBody>
      </p:sp>
      <p:sp>
        <p:nvSpPr>
          <p:cNvPr id="23" name="Text 2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24</a:t>
            </a:r>
            <a:endParaRPr lang="en-US" sz="900" dirty="0"/>
          </a:p>
        </p:txBody>
      </p:sp>
      <p:sp>
        <p:nvSpPr>
          <p:cNvPr id="24" name="Text 22"/>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4 : Mise en pratique</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Démonstrations + atelier guidé</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18 /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Démonstrations en direct</a:t>
            </a:r>
            <a:endParaRPr lang="en-US" sz="2800" dirty="0"/>
          </a:p>
        </p:txBody>
      </p:sp>
      <p:sp>
        <p:nvSpPr>
          <p:cNvPr id="3" name="Shape 1"/>
          <p:cNvSpPr/>
          <p:nvPr/>
        </p:nvSpPr>
        <p:spPr>
          <a:xfrm>
            <a:off x="365760" y="1005840"/>
            <a:ext cx="8412480" cy="777240"/>
          </a:xfrm>
          <a:prstGeom prst="rect">
            <a:avLst/>
          </a:prstGeom>
          <a:solidFill>
            <a:srgbClr val="FBF3F6"/>
          </a:solidFill>
          <a:ln/>
          <a:effectLst>
            <a:outerShdw blurRad="76200" dist="25400" dir="8100000" algn="bl" rotWithShape="0">
              <a:srgbClr val="000000">
                <a:alpha val="12000"/>
              </a:srgbClr>
            </a:outerShdw>
          </a:effectLst>
        </p:spPr>
      </p:sp>
      <p:sp>
        <p:nvSpPr>
          <p:cNvPr id="4" name="Text 2"/>
          <p:cNvSpPr/>
          <p:nvPr/>
        </p:nvSpPr>
        <p:spPr>
          <a:xfrm>
            <a:off x="548640" y="10332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1 : LSTM sentiment analysis</a:t>
            </a:r>
            <a:endParaRPr lang="en-US" sz="1300" dirty="0"/>
          </a:p>
        </p:txBody>
      </p:sp>
      <p:sp>
        <p:nvSpPr>
          <p:cNvPr id="5" name="Text 3"/>
          <p:cNvSpPr/>
          <p:nvPr/>
        </p:nvSpPr>
        <p:spPr>
          <a:xfrm>
            <a:off x="548640" y="13258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 entraîne un LSTM sur les critiques de films IMDB. On verra le modèle apprendre à distinguer critiques positives et négatives en quelques minutes.</a:t>
            </a:r>
            <a:endParaRPr lang="en-US" sz="1100" dirty="0"/>
          </a:p>
        </p:txBody>
      </p:sp>
      <p:sp>
        <p:nvSpPr>
          <p:cNvPr id="6" name="Shape 4"/>
          <p:cNvSpPr/>
          <p:nvPr/>
        </p:nvSpPr>
        <p:spPr>
          <a:xfrm>
            <a:off x="7863840" y="1216152"/>
            <a:ext cx="822960" cy="320040"/>
          </a:xfrm>
          <a:prstGeom prst="rect">
            <a:avLst/>
          </a:prstGeom>
          <a:solidFill>
            <a:srgbClr val="6D2E46"/>
          </a:solidFill>
          <a:ln/>
        </p:spPr>
      </p:sp>
      <p:sp>
        <p:nvSpPr>
          <p:cNvPr id="7" name="Text 5"/>
          <p:cNvSpPr/>
          <p:nvPr/>
        </p:nvSpPr>
        <p:spPr>
          <a:xfrm>
            <a:off x="7863840" y="12161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 min</a:t>
            </a:r>
            <a:endParaRPr lang="en-US" sz="900" dirty="0"/>
          </a:p>
        </p:txBody>
      </p:sp>
      <p:sp>
        <p:nvSpPr>
          <p:cNvPr id="8" name="Shape 6"/>
          <p:cNvSpPr/>
          <p:nvPr/>
        </p:nvSpPr>
        <p:spPr>
          <a:xfrm>
            <a:off x="365760" y="1920240"/>
            <a:ext cx="8412480" cy="777240"/>
          </a:xfrm>
          <a:prstGeom prst="rect">
            <a:avLst/>
          </a:prstGeom>
          <a:solidFill>
            <a:srgbClr val="FFFFFF"/>
          </a:solidFill>
          <a:ln/>
          <a:effectLst>
            <a:outerShdw blurRad="76200" dist="25400" dir="8100000" algn="bl" rotWithShape="0">
              <a:srgbClr val="000000">
                <a:alpha val="12000"/>
              </a:srgbClr>
            </a:outerShdw>
          </a:effectLst>
        </p:spPr>
      </p:sp>
      <p:sp>
        <p:nvSpPr>
          <p:cNvPr id="9" name="Text 7"/>
          <p:cNvSpPr/>
          <p:nvPr/>
        </p:nvSpPr>
        <p:spPr>
          <a:xfrm>
            <a:off x="548640" y="19476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2 : Hugging Face pipelines</a:t>
            </a:r>
            <a:endParaRPr lang="en-US" sz="1300" dirty="0"/>
          </a:p>
        </p:txBody>
      </p:sp>
      <p:sp>
        <p:nvSpPr>
          <p:cNvPr id="10" name="Text 8"/>
          <p:cNvSpPr/>
          <p:nvPr/>
        </p:nvSpPr>
        <p:spPr>
          <a:xfrm>
            <a:off x="548640" y="22402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 teste en live : sentiment, traduction, résumé, zero-shot classification, question-answering. Tout en une ligne de code !</a:t>
            </a:r>
            <a:endParaRPr lang="en-US" sz="1100" dirty="0"/>
          </a:p>
        </p:txBody>
      </p:sp>
      <p:sp>
        <p:nvSpPr>
          <p:cNvPr id="11" name="Shape 9"/>
          <p:cNvSpPr/>
          <p:nvPr/>
        </p:nvSpPr>
        <p:spPr>
          <a:xfrm>
            <a:off x="7863840" y="2130552"/>
            <a:ext cx="822960" cy="320040"/>
          </a:xfrm>
          <a:prstGeom prst="rect">
            <a:avLst/>
          </a:prstGeom>
          <a:solidFill>
            <a:srgbClr val="6D2E46"/>
          </a:solidFill>
          <a:ln/>
        </p:spPr>
      </p:sp>
      <p:sp>
        <p:nvSpPr>
          <p:cNvPr id="12" name="Text 10"/>
          <p:cNvSpPr/>
          <p:nvPr/>
        </p:nvSpPr>
        <p:spPr>
          <a:xfrm>
            <a:off x="7863840" y="21305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 min</a:t>
            </a:r>
            <a:endParaRPr lang="en-US" sz="900" dirty="0"/>
          </a:p>
        </p:txBody>
      </p:sp>
      <p:sp>
        <p:nvSpPr>
          <p:cNvPr id="13" name="Shape 11"/>
          <p:cNvSpPr/>
          <p:nvPr/>
        </p:nvSpPr>
        <p:spPr>
          <a:xfrm>
            <a:off x="365760" y="2834640"/>
            <a:ext cx="8412480" cy="777240"/>
          </a:xfrm>
          <a:prstGeom prst="rect">
            <a:avLst/>
          </a:prstGeom>
          <a:solidFill>
            <a:srgbClr val="FBF3F6"/>
          </a:solidFill>
          <a:ln/>
          <a:effectLst>
            <a:outerShdw blurRad="76200" dist="25400" dir="8100000" algn="bl" rotWithShape="0">
              <a:srgbClr val="000000">
                <a:alpha val="12000"/>
              </a:srgbClr>
            </a:outerShdw>
          </a:effectLst>
        </p:spPr>
      </p:sp>
      <p:sp>
        <p:nvSpPr>
          <p:cNvPr id="14" name="Text 12"/>
          <p:cNvSpPr/>
          <p:nvPr/>
        </p:nvSpPr>
        <p:spPr>
          <a:xfrm>
            <a:off x="548640" y="28620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3 : Comparaison Keras vs PyTorch</a:t>
            </a:r>
            <a:endParaRPr lang="en-US" sz="1300" dirty="0"/>
          </a:p>
        </p:txBody>
      </p:sp>
      <p:sp>
        <p:nvSpPr>
          <p:cNvPr id="15" name="Text 13"/>
          <p:cNvSpPr/>
          <p:nvPr/>
        </p:nvSpPr>
        <p:spPr>
          <a:xfrm>
            <a:off x="548640" y="31546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Même modèle implémenté dans les deux frameworks. On compare la syntaxe, la vitesse et la facilité de débogage.</a:t>
            </a:r>
            <a:endParaRPr lang="en-US" sz="1100" dirty="0"/>
          </a:p>
        </p:txBody>
      </p:sp>
      <p:sp>
        <p:nvSpPr>
          <p:cNvPr id="16" name="Shape 14"/>
          <p:cNvSpPr/>
          <p:nvPr/>
        </p:nvSpPr>
        <p:spPr>
          <a:xfrm>
            <a:off x="7863840" y="3044952"/>
            <a:ext cx="822960" cy="320040"/>
          </a:xfrm>
          <a:prstGeom prst="rect">
            <a:avLst/>
          </a:prstGeom>
          <a:solidFill>
            <a:srgbClr val="6D2E46"/>
          </a:solidFill>
          <a:ln/>
        </p:spPr>
      </p:sp>
      <p:sp>
        <p:nvSpPr>
          <p:cNvPr id="17" name="Text 15"/>
          <p:cNvSpPr/>
          <p:nvPr/>
        </p:nvSpPr>
        <p:spPr>
          <a:xfrm>
            <a:off x="7863840" y="30449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 min</a:t>
            </a:r>
            <a:endParaRPr lang="en-US" sz="900" dirty="0"/>
          </a:p>
        </p:txBody>
      </p:sp>
      <p:sp>
        <p:nvSpPr>
          <p:cNvPr id="18" name="Shape 16"/>
          <p:cNvSpPr/>
          <p:nvPr/>
        </p:nvSpPr>
        <p:spPr>
          <a:xfrm>
            <a:off x="365760" y="3749040"/>
            <a:ext cx="8412480" cy="777240"/>
          </a:xfrm>
          <a:prstGeom prst="rect">
            <a:avLst/>
          </a:prstGeom>
          <a:solidFill>
            <a:srgbClr val="FFFFFF"/>
          </a:solidFill>
          <a:ln/>
          <a:effectLst>
            <a:outerShdw blurRad="76200" dist="25400" dir="8100000" algn="bl" rotWithShape="0">
              <a:srgbClr val="000000">
                <a:alpha val="12000"/>
              </a:srgbClr>
            </a:outerShdw>
          </a:effectLst>
        </p:spPr>
      </p:sp>
      <p:sp>
        <p:nvSpPr>
          <p:cNvPr id="19" name="Text 17"/>
          <p:cNvSpPr/>
          <p:nvPr/>
        </p:nvSpPr>
        <p:spPr>
          <a:xfrm>
            <a:off x="548640" y="37764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4 : MLflow tracking</a:t>
            </a:r>
            <a:endParaRPr lang="en-US" sz="1300" dirty="0"/>
          </a:p>
        </p:txBody>
      </p:sp>
      <p:sp>
        <p:nvSpPr>
          <p:cNvPr id="20" name="Text 18"/>
          <p:cNvSpPr/>
          <p:nvPr/>
        </p:nvSpPr>
        <p:spPr>
          <a:xfrm>
            <a:off x="548640" y="40690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 montre comment logger automatiquement ses expériences et retrouver le meilleur modèle parmi toutes les tentatives.</a:t>
            </a:r>
            <a:endParaRPr lang="en-US" sz="1100" dirty="0"/>
          </a:p>
        </p:txBody>
      </p:sp>
      <p:sp>
        <p:nvSpPr>
          <p:cNvPr id="21" name="Shape 19"/>
          <p:cNvSpPr/>
          <p:nvPr/>
        </p:nvSpPr>
        <p:spPr>
          <a:xfrm>
            <a:off x="7863840" y="3959352"/>
            <a:ext cx="822960" cy="320040"/>
          </a:xfrm>
          <a:prstGeom prst="rect">
            <a:avLst/>
          </a:prstGeom>
          <a:solidFill>
            <a:srgbClr val="6D2E46"/>
          </a:solidFill>
          <a:ln/>
        </p:spPr>
      </p:sp>
      <p:sp>
        <p:nvSpPr>
          <p:cNvPr id="22" name="Text 20"/>
          <p:cNvSpPr/>
          <p:nvPr/>
        </p:nvSpPr>
        <p:spPr>
          <a:xfrm>
            <a:off x="7863840" y="39593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 min</a:t>
            </a:r>
            <a:endParaRPr lang="en-US" sz="900" dirty="0"/>
          </a:p>
        </p:txBody>
      </p:sp>
      <p:sp>
        <p:nvSpPr>
          <p:cNvPr id="23" name="Text 2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 / 24</a:t>
            </a:r>
            <a:endParaRPr lang="en-US" sz="900" dirty="0"/>
          </a:p>
        </p:txBody>
      </p:sp>
      <p:sp>
        <p:nvSpPr>
          <p:cNvPr id="24" name="Text 22"/>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Atelier — Exercice 1 : Sentiment avec LSTM</a:t>
            </a:r>
            <a:endParaRPr lang="en-US" sz="24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Classifier le sentiment de tweets ou avis produits en positif/négatif/neutre</a:t>
            </a:r>
            <a:endParaRPr lang="en-US" sz="1300" dirty="0"/>
          </a:p>
        </p:txBody>
      </p:sp>
      <p:sp>
        <p:nvSpPr>
          <p:cNvPr id="4" name="Shape 2"/>
          <p:cNvSpPr/>
          <p:nvPr/>
        </p:nvSpPr>
        <p:spPr>
          <a:xfrm>
            <a:off x="457200" y="1307592"/>
            <a:ext cx="347472" cy="347472"/>
          </a:xfrm>
          <a:prstGeom prst="ellipse">
            <a:avLst/>
          </a:prstGeom>
          <a:solidFill>
            <a:srgbClr val="6D2E46"/>
          </a:solidFill>
          <a:ln/>
        </p:spPr>
      </p:sp>
      <p:sp>
        <p:nvSpPr>
          <p:cNvPr id="5" name="Text 3"/>
          <p:cNvSpPr/>
          <p:nvPr/>
        </p:nvSpPr>
        <p:spPr>
          <a:xfrm>
            <a:off x="457200" y="1307592"/>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234440"/>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Charger le dataset (fourni) et explorer les données (combien de classes ? exemples ?)</a:t>
            </a:r>
            <a:endParaRPr lang="en-US" sz="1200" dirty="0"/>
          </a:p>
        </p:txBody>
      </p:sp>
      <p:sp>
        <p:nvSpPr>
          <p:cNvPr id="7" name="Shape 5"/>
          <p:cNvSpPr/>
          <p:nvPr/>
        </p:nvSpPr>
        <p:spPr>
          <a:xfrm>
            <a:off x="457200" y="1874520"/>
            <a:ext cx="347472" cy="347472"/>
          </a:xfrm>
          <a:prstGeom prst="ellipse">
            <a:avLst/>
          </a:prstGeom>
          <a:solidFill>
            <a:srgbClr val="6D2E46"/>
          </a:solidFill>
          <a:ln/>
        </p:spPr>
      </p:sp>
      <p:sp>
        <p:nvSpPr>
          <p:cNvPr id="8" name="Text 6"/>
          <p:cNvSpPr/>
          <p:nvPr/>
        </p:nvSpPr>
        <p:spPr>
          <a:xfrm>
            <a:off x="457200" y="187452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1801368"/>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Prétraiter : tokeniser avec Keras Tokenizer, puis padding pour que tout ait la même longueur</a:t>
            </a:r>
            <a:endParaRPr lang="en-US" sz="1200" dirty="0"/>
          </a:p>
        </p:txBody>
      </p:sp>
      <p:sp>
        <p:nvSpPr>
          <p:cNvPr id="10" name="Shape 8"/>
          <p:cNvSpPr/>
          <p:nvPr/>
        </p:nvSpPr>
        <p:spPr>
          <a:xfrm>
            <a:off x="457200" y="2441448"/>
            <a:ext cx="347472" cy="347472"/>
          </a:xfrm>
          <a:prstGeom prst="ellipse">
            <a:avLst/>
          </a:prstGeom>
          <a:solidFill>
            <a:srgbClr val="6D2E46"/>
          </a:solidFill>
          <a:ln/>
        </p:spPr>
      </p:sp>
      <p:sp>
        <p:nvSpPr>
          <p:cNvPr id="11" name="Text 9"/>
          <p:cNvSpPr/>
          <p:nvPr/>
        </p:nvSpPr>
        <p:spPr>
          <a:xfrm>
            <a:off x="457200" y="2441448"/>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2368296"/>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Construire le modèle : Embedding → LSTM (ou Bidirectional LSTM) → Dense → Softmax</a:t>
            </a:r>
            <a:endParaRPr lang="en-US" sz="1200" dirty="0"/>
          </a:p>
        </p:txBody>
      </p:sp>
      <p:sp>
        <p:nvSpPr>
          <p:cNvPr id="13" name="Shape 11"/>
          <p:cNvSpPr/>
          <p:nvPr/>
        </p:nvSpPr>
        <p:spPr>
          <a:xfrm>
            <a:off x="457200" y="3008376"/>
            <a:ext cx="347472" cy="347472"/>
          </a:xfrm>
          <a:prstGeom prst="ellipse">
            <a:avLst/>
          </a:prstGeom>
          <a:solidFill>
            <a:srgbClr val="6D2E46"/>
          </a:solidFill>
          <a:ln/>
        </p:spPr>
      </p:sp>
      <p:sp>
        <p:nvSpPr>
          <p:cNvPr id="14" name="Text 12"/>
          <p:cNvSpPr/>
          <p:nvPr/>
        </p:nvSpPr>
        <p:spPr>
          <a:xfrm>
            <a:off x="457200" y="3008376"/>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2935224"/>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Entraîner pendant 10 epochs et observer les courbes (accuracy, loss)</a:t>
            </a:r>
            <a:endParaRPr lang="en-US" sz="1200" dirty="0"/>
          </a:p>
        </p:txBody>
      </p:sp>
      <p:sp>
        <p:nvSpPr>
          <p:cNvPr id="16" name="Shape 14"/>
          <p:cNvSpPr/>
          <p:nvPr/>
        </p:nvSpPr>
        <p:spPr>
          <a:xfrm>
            <a:off x="457200" y="3575304"/>
            <a:ext cx="347472" cy="347472"/>
          </a:xfrm>
          <a:prstGeom prst="ellipse">
            <a:avLst/>
          </a:prstGeom>
          <a:solidFill>
            <a:srgbClr val="6D2E46"/>
          </a:solidFill>
          <a:ln/>
        </p:spPr>
      </p:sp>
      <p:sp>
        <p:nvSpPr>
          <p:cNvPr id="17" name="Text 15"/>
          <p:cNvSpPr/>
          <p:nvPr/>
        </p:nvSpPr>
        <p:spPr>
          <a:xfrm>
            <a:off x="457200" y="3575304"/>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3502152"/>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Tester sur des exemples que vous inventez et comparer LSTM vs SimpleRNN</a:t>
            </a:r>
            <a:endParaRPr lang="en-US" sz="1200" dirty="0"/>
          </a:p>
        </p:txBody>
      </p:sp>
      <p:sp>
        <p:nvSpPr>
          <p:cNvPr id="19" name="Shape 17"/>
          <p:cNvSpPr/>
          <p:nvPr/>
        </p:nvSpPr>
        <p:spPr>
          <a:xfrm>
            <a:off x="365760" y="4160520"/>
            <a:ext cx="8412480" cy="731520"/>
          </a:xfrm>
          <a:prstGeom prst="rect">
            <a:avLst/>
          </a:prstGeom>
          <a:solidFill>
            <a:srgbClr val="FEF3C7"/>
          </a:solidFill>
          <a:ln/>
        </p:spPr>
      </p:sp>
      <p:sp>
        <p:nvSpPr>
          <p:cNvPr id="20" name="Text 18"/>
          <p:cNvSpPr/>
          <p:nvPr/>
        </p:nvSpPr>
        <p:spPr>
          <a:xfrm>
            <a:off x="548640" y="4206240"/>
            <a:ext cx="8046720" cy="640080"/>
          </a:xfrm>
          <a:prstGeom prst="rect">
            <a:avLst/>
          </a:prstGeom>
          <a:noFill/>
          <a:ln/>
        </p:spPr>
        <p:txBody>
          <a:bodyPr wrap="square" rtlCol="0" anchor="ctr"/>
          <a:lstStyle/>
          <a:p>
            <a:pPr marL="0" indent="0">
              <a:buNone/>
            </a:pPr>
            <a:r>
              <a:rPr lang="en-US" sz="1200" dirty="0">
                <a:solidFill>
                  <a:srgbClr val="92400E"/>
                </a:solidFill>
                <a:latin typeface="Calibri" pitchFamily="34" charset="0"/>
                <a:ea typeface="Calibri" pitchFamily="34" charset="-122"/>
                <a:cs typeface="Calibri" pitchFamily="34" charset="-120"/>
              </a:rPr>
              <a:t>Objectif : ≥ 75% d'accuracy. Bonus : testez Bidirectional LSTM, comparez avec un SimpleRNN, et essayez des embeddings pré-entraînés (GloVe).</a:t>
            </a:r>
            <a:endParaRPr lang="en-US" sz="1200" dirty="0"/>
          </a:p>
        </p:txBody>
      </p:sp>
      <p:sp>
        <p:nvSpPr>
          <p:cNvPr id="21" name="Text 19"/>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 / 24</a:t>
            </a:r>
            <a:endParaRPr lang="en-US" sz="900" dirty="0"/>
          </a:p>
        </p:txBody>
      </p:sp>
      <p:sp>
        <p:nvSpPr>
          <p:cNvPr id="22" name="Text 20"/>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Atelier — Exercice 2 : Exploration Hugging Face</a:t>
            </a:r>
            <a:endParaRPr lang="en-US" sz="24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Explorer l'écosystème Hugging Face et comparer plusieurs modèles</a:t>
            </a:r>
            <a:endParaRPr lang="en-US" sz="1300" dirty="0"/>
          </a:p>
        </p:txBody>
      </p:sp>
      <p:sp>
        <p:nvSpPr>
          <p:cNvPr id="4" name="Shape 2"/>
          <p:cNvSpPr/>
          <p:nvPr/>
        </p:nvSpPr>
        <p:spPr>
          <a:xfrm>
            <a:off x="457200" y="1307592"/>
            <a:ext cx="347472" cy="347472"/>
          </a:xfrm>
          <a:prstGeom prst="ellipse">
            <a:avLst/>
          </a:prstGeom>
          <a:solidFill>
            <a:srgbClr val="A26769"/>
          </a:solidFill>
          <a:ln/>
        </p:spPr>
      </p:sp>
      <p:sp>
        <p:nvSpPr>
          <p:cNvPr id="5" name="Text 3"/>
          <p:cNvSpPr/>
          <p:nvPr/>
        </p:nvSpPr>
        <p:spPr>
          <a:xfrm>
            <a:off x="457200" y="1307592"/>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234440"/>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Tester 3 modèles différents de sentiment analysis et comparer leurs résultats et leur vitesse</a:t>
            </a:r>
            <a:endParaRPr lang="en-US" sz="1200" dirty="0"/>
          </a:p>
        </p:txBody>
      </p:sp>
      <p:sp>
        <p:nvSpPr>
          <p:cNvPr id="7" name="Shape 5"/>
          <p:cNvSpPr/>
          <p:nvPr/>
        </p:nvSpPr>
        <p:spPr>
          <a:xfrm>
            <a:off x="457200" y="1874520"/>
            <a:ext cx="347472" cy="347472"/>
          </a:xfrm>
          <a:prstGeom prst="ellipse">
            <a:avLst/>
          </a:prstGeom>
          <a:solidFill>
            <a:srgbClr val="A26769"/>
          </a:solidFill>
          <a:ln/>
        </p:spPr>
      </p:sp>
      <p:sp>
        <p:nvSpPr>
          <p:cNvPr id="8" name="Text 6"/>
          <p:cNvSpPr/>
          <p:nvPr/>
        </p:nvSpPr>
        <p:spPr>
          <a:xfrm>
            <a:off x="457200" y="187452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1801368"/>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Utiliser le pipeline de traduction pour traduire 10 phrases et évaluer la qualité</a:t>
            </a:r>
            <a:endParaRPr lang="en-US" sz="1200" dirty="0"/>
          </a:p>
        </p:txBody>
      </p:sp>
      <p:sp>
        <p:nvSpPr>
          <p:cNvPr id="10" name="Shape 8"/>
          <p:cNvSpPr/>
          <p:nvPr/>
        </p:nvSpPr>
        <p:spPr>
          <a:xfrm>
            <a:off x="457200" y="2441448"/>
            <a:ext cx="347472" cy="347472"/>
          </a:xfrm>
          <a:prstGeom prst="ellipse">
            <a:avLst/>
          </a:prstGeom>
          <a:solidFill>
            <a:srgbClr val="A26769"/>
          </a:solidFill>
          <a:ln/>
        </p:spPr>
      </p:sp>
      <p:sp>
        <p:nvSpPr>
          <p:cNvPr id="11" name="Text 9"/>
          <p:cNvSpPr/>
          <p:nvPr/>
        </p:nvSpPr>
        <p:spPr>
          <a:xfrm>
            <a:off x="457200" y="2441448"/>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2368296"/>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Tester le zero-shot classification sur des données de votre choix (emails, tweets...)</a:t>
            </a:r>
            <a:endParaRPr lang="en-US" sz="1200" dirty="0"/>
          </a:p>
        </p:txBody>
      </p:sp>
      <p:sp>
        <p:nvSpPr>
          <p:cNvPr id="13" name="Shape 11"/>
          <p:cNvSpPr/>
          <p:nvPr/>
        </p:nvSpPr>
        <p:spPr>
          <a:xfrm>
            <a:off x="457200" y="3008376"/>
            <a:ext cx="347472" cy="347472"/>
          </a:xfrm>
          <a:prstGeom prst="ellipse">
            <a:avLst/>
          </a:prstGeom>
          <a:solidFill>
            <a:srgbClr val="A26769"/>
          </a:solidFill>
          <a:ln/>
        </p:spPr>
      </p:sp>
      <p:sp>
        <p:nvSpPr>
          <p:cNvPr id="14" name="Text 12"/>
          <p:cNvSpPr/>
          <p:nvPr/>
        </p:nvSpPr>
        <p:spPr>
          <a:xfrm>
            <a:off x="457200" y="3008376"/>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2935224"/>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Sauvegarder un modèle Keras localement et le recharger pour faire des prédictions</a:t>
            </a:r>
            <a:endParaRPr lang="en-US" sz="1200" dirty="0"/>
          </a:p>
        </p:txBody>
      </p:sp>
      <p:sp>
        <p:nvSpPr>
          <p:cNvPr id="16" name="Shape 14"/>
          <p:cNvSpPr/>
          <p:nvPr/>
        </p:nvSpPr>
        <p:spPr>
          <a:xfrm>
            <a:off x="457200" y="3575304"/>
            <a:ext cx="347472" cy="347472"/>
          </a:xfrm>
          <a:prstGeom prst="ellipse">
            <a:avLst/>
          </a:prstGeom>
          <a:solidFill>
            <a:srgbClr val="A26769"/>
          </a:solidFill>
          <a:ln/>
        </p:spPr>
      </p:sp>
      <p:sp>
        <p:nvSpPr>
          <p:cNvPr id="17" name="Text 15"/>
          <p:cNvSpPr/>
          <p:nvPr/>
        </p:nvSpPr>
        <p:spPr>
          <a:xfrm>
            <a:off x="457200" y="3575304"/>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3502152"/>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Écrire vos conclusions : quel modèle est le meilleur ? pourquoi ?</a:t>
            </a:r>
            <a:endParaRPr lang="en-US" sz="1200" dirty="0"/>
          </a:p>
        </p:txBody>
      </p:sp>
      <p:sp>
        <p:nvSpPr>
          <p:cNvPr id="19" name="Text 17"/>
          <p:cNvSpPr/>
          <p:nvPr/>
        </p:nvSpPr>
        <p:spPr>
          <a:xfrm>
            <a:off x="457200" y="4160520"/>
            <a:ext cx="8229600" cy="365760"/>
          </a:xfrm>
          <a:prstGeom prst="rect">
            <a:avLst/>
          </a:prstGeom>
          <a:noFill/>
          <a:ln/>
        </p:spPr>
        <p:txBody>
          <a:bodyPr wrap="square" rtlCol="0" anchor="ctr"/>
          <a:lstStyle/>
          <a:p>
            <a:pPr marL="0" indent="0">
              <a:buNone/>
            </a:pPr>
            <a:r>
              <a:rPr lang="en-US" sz="1200" b="1" dirty="0">
                <a:solidFill>
                  <a:srgbClr val="6D2E46"/>
                </a:solidFill>
                <a:latin typeface="Calibri" pitchFamily="34" charset="0"/>
                <a:ea typeface="Calibri" pitchFamily="34" charset="-122"/>
                <a:cs typeface="Calibri" pitchFamily="34" charset="-120"/>
              </a:rPr>
              <a:t>Livrables : notebook commenté avec résultats, comparaison des modèles, et réflexion personnelle sur les trade-offs.</a:t>
            </a:r>
            <a:endParaRPr lang="en-US" sz="1200" dirty="0"/>
          </a:p>
        </p:txBody>
      </p:sp>
      <p:sp>
        <p:nvSpPr>
          <p:cNvPr id="20"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 / 24</a:t>
            </a:r>
            <a:endParaRPr lang="en-US" sz="900" dirty="0"/>
          </a:p>
        </p:txBody>
      </p:sp>
      <p:sp>
        <p:nvSpPr>
          <p:cNvPr id="21" name="Text 19"/>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Récapitulatif : quel outil pour quel usage ?</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2697480"/>
        </p:xfrm>
        <a:graphic>
          <a:graphicData uri="http://schemas.openxmlformats.org/drawingml/2006/table">
            <a:tbl>
              <a:tblPr/>
              <a:tblGrid>
                <a:gridCol w="18288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Outil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Quand l'utiliser ?</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Niveau</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Keras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Prototypage rapide, débuter, cours, modèles standards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59669"/>
                          </a:solidFill>
                          <a:latin typeface="Calibri" pitchFamily="34" charset="0"/>
                          <a:ea typeface="Calibri" pitchFamily="34" charset="-122"/>
                          <a:cs typeface="Calibri" pitchFamily="34" charset="-120"/>
                        </a:rPr>
                        <a:t>Débutant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Hugging Face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NLP, utiliser des modèles pré-entraînés puissants, zero-shot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59669"/>
                          </a:solidFill>
                          <a:latin typeface="Calibri" pitchFamily="34" charset="0"/>
                          <a:ea typeface="Calibri" pitchFamily="34" charset="-122"/>
                          <a:cs typeface="Calibri" pitchFamily="34" charset="-120"/>
                        </a:rPr>
                        <a:t>Débutant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TensorFlow</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Déploiement en production, mobile (TF Lite), équipes existantes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F59E0B"/>
                          </a:solidFill>
                          <a:latin typeface="Calibri" pitchFamily="34" charset="0"/>
                          <a:ea typeface="Calibri" pitchFamily="34" charset="-122"/>
                          <a:cs typeface="Calibri" pitchFamily="34" charset="-120"/>
                        </a:rPr>
                        <a:t>Intermédiaire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PyTorch</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Recherche, modèles custom, flexibilité maximale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F59E0B"/>
                          </a:solidFill>
                          <a:latin typeface="Calibri" pitchFamily="34" charset="0"/>
                          <a:ea typeface="Calibri" pitchFamily="34" charset="-122"/>
                          <a:cs typeface="Calibri" pitchFamily="34" charset="-120"/>
                        </a:rPr>
                        <a:t>Intermédiaire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MLflow / W&amp;B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Suivre et comparer vos expériences, versionner les modèles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2563EB"/>
                          </a:solidFill>
                          <a:latin typeface="Calibri" pitchFamily="34" charset="0"/>
                          <a:ea typeface="Calibri" pitchFamily="34" charset="-122"/>
                          <a:cs typeface="Calibri" pitchFamily="34" charset="-120"/>
                        </a:rPr>
                        <a:t>Tout niveau</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1"/>
          <p:cNvSpPr/>
          <p:nvPr/>
        </p:nvSpPr>
        <p:spPr>
          <a:xfrm>
            <a:off x="365760" y="3840480"/>
            <a:ext cx="8412480" cy="731520"/>
          </a:xfrm>
          <a:prstGeom prst="rect">
            <a:avLst/>
          </a:prstGeom>
          <a:solidFill>
            <a:srgbClr val="FEF3C7"/>
          </a:solidFill>
          <a:ln/>
        </p:spPr>
      </p:sp>
      <p:sp>
        <p:nvSpPr>
          <p:cNvPr id="5" name="Text 2"/>
          <p:cNvSpPr/>
          <p:nvPr/>
        </p:nvSpPr>
        <p:spPr>
          <a:xfrm>
            <a:off x="548640" y="3886200"/>
            <a:ext cx="8046720" cy="640080"/>
          </a:xfrm>
          <a:prstGeom prst="rect">
            <a:avLst/>
          </a:prstGeom>
          <a:noFill/>
          <a:ln/>
        </p:spPr>
        <p:txBody>
          <a:bodyPr wrap="square" rtlCol="0" anchor="ctr"/>
          <a:lstStyle/>
          <a:p>
            <a:pPr marL="0" indent="0">
              <a:buNone/>
            </a:pPr>
            <a:r>
              <a:rPr lang="en-US" sz="1200" dirty="0">
                <a:solidFill>
                  <a:srgbClr val="92400E"/>
                </a:solidFill>
                <a:latin typeface="Calibri" pitchFamily="34" charset="0"/>
                <a:ea typeface="Calibri" pitchFamily="34" charset="-122"/>
                <a:cs typeface="Calibri" pitchFamily="34" charset="-120"/>
              </a:rPr>
              <a:t>💡 En pratique : On commence avec Keras + Hugging Face. Passez à PyTorch/TensorFlow quand vous avez besoin de plus de contrôle. Ajoutez MLflow/W&amp;B dès que vous faites plusieurs expériences.</a:t>
            </a:r>
            <a:endParaRPr lang="en-US" sz="12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 / 24</a:t>
            </a:r>
            <a:endParaRPr lang="en-US" sz="900" dirty="0"/>
          </a:p>
        </p:txBody>
      </p:sp>
      <p:sp>
        <p:nvSpPr>
          <p:cNvPr id="7" name="Text 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3D1329"/>
                </a:solidFill>
                <a:latin typeface="Georgia" pitchFamily="34" charset="0"/>
                <a:ea typeface="Georgia" pitchFamily="34" charset="-122"/>
                <a:cs typeface="Georgia" pitchFamily="34" charset="-120"/>
              </a:rPr>
              <a:t>Ce qu'il faut retenir</a:t>
            </a:r>
            <a:endParaRPr lang="en-US" sz="3000" dirty="0"/>
          </a:p>
        </p:txBody>
      </p:sp>
      <p:sp>
        <p:nvSpPr>
          <p:cNvPr id="3" name="Shape 1"/>
          <p:cNvSpPr/>
          <p:nvPr/>
        </p:nvSpPr>
        <p:spPr>
          <a:xfrm>
            <a:off x="365760" y="1005840"/>
            <a:ext cx="8412480" cy="777240"/>
          </a:xfrm>
          <a:prstGeom prst="rect">
            <a:avLst/>
          </a:prstGeom>
          <a:solidFill>
            <a:srgbClr val="FBF3F6"/>
          </a:solidFill>
          <a:ln/>
        </p:spPr>
      </p:sp>
      <p:pic>
        <p:nvPicPr>
          <p:cNvPr id="4" name="Image 0" descr="preencoded.png"/>
          <p:cNvPicPr>
            <a:picLocks noChangeAspect="1"/>
          </p:cNvPicPr>
          <p:nvPr/>
        </p:nvPicPr>
        <p:blipFill>
          <a:blip r:embed="rId3"/>
          <a:stretch>
            <a:fillRect/>
          </a:stretch>
        </p:blipFill>
        <p:spPr>
          <a:xfrm>
            <a:off x="548640" y="1170432"/>
            <a:ext cx="457200" cy="457200"/>
          </a:xfrm>
          <a:prstGeom prst="rect">
            <a:avLst/>
          </a:prstGeom>
        </p:spPr>
      </p:pic>
      <p:sp>
        <p:nvSpPr>
          <p:cNvPr id="5" name="Text 2"/>
          <p:cNvSpPr/>
          <p:nvPr/>
        </p:nvSpPr>
        <p:spPr>
          <a:xfrm>
            <a:off x="1188720" y="10241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Le NLP transforme le texte en nombres</a:t>
            </a:r>
            <a:endParaRPr lang="en-US" sz="1500" dirty="0"/>
          </a:p>
        </p:txBody>
      </p:sp>
      <p:sp>
        <p:nvSpPr>
          <p:cNvPr id="6" name="Text 3"/>
          <p:cNvSpPr/>
          <p:nvPr/>
        </p:nvSpPr>
        <p:spPr>
          <a:xfrm>
            <a:off x="1188720" y="13533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Tokenisation → Embeddings → Modèle (LSTM ou Transformer) → Prédiction. Les Transformers sont la base de ChatGPT.</a:t>
            </a:r>
            <a:endParaRPr lang="en-US" sz="1200" dirty="0"/>
          </a:p>
        </p:txBody>
      </p:sp>
      <p:sp>
        <p:nvSpPr>
          <p:cNvPr id="7" name="Shape 4"/>
          <p:cNvSpPr/>
          <p:nvPr/>
        </p:nvSpPr>
        <p:spPr>
          <a:xfrm>
            <a:off x="365760" y="1920240"/>
            <a:ext cx="8412480" cy="777240"/>
          </a:xfrm>
          <a:prstGeom prst="rect">
            <a:avLst/>
          </a:prstGeom>
          <a:solidFill>
            <a:srgbClr val="FFFFFF"/>
          </a:solidFill>
          <a:ln/>
        </p:spPr>
      </p:sp>
      <p:pic>
        <p:nvPicPr>
          <p:cNvPr id="8" name="Image 1" descr="preencoded.png"/>
          <p:cNvPicPr>
            <a:picLocks noChangeAspect="1"/>
          </p:cNvPicPr>
          <p:nvPr/>
        </p:nvPicPr>
        <p:blipFill>
          <a:blip r:embed="rId4"/>
          <a:stretch>
            <a:fillRect/>
          </a:stretch>
        </p:blipFill>
        <p:spPr>
          <a:xfrm>
            <a:off x="548640" y="2084832"/>
            <a:ext cx="457200" cy="457200"/>
          </a:xfrm>
          <a:prstGeom prst="rect">
            <a:avLst/>
          </a:prstGeom>
        </p:spPr>
      </p:pic>
      <p:sp>
        <p:nvSpPr>
          <p:cNvPr id="9" name="Text 5"/>
          <p:cNvSpPr/>
          <p:nvPr/>
        </p:nvSpPr>
        <p:spPr>
          <a:xfrm>
            <a:off x="1188720" y="19385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Hugging Face = superpouvoir</a:t>
            </a:r>
            <a:endParaRPr lang="en-US" sz="1500" dirty="0"/>
          </a:p>
        </p:txBody>
      </p:sp>
      <p:sp>
        <p:nvSpPr>
          <p:cNvPr id="10" name="Text 6"/>
          <p:cNvSpPr/>
          <p:nvPr/>
        </p:nvSpPr>
        <p:spPr>
          <a:xfrm>
            <a:off x="1188720" y="22677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200 000+ modèles prêts à l'emploi. Sentiment, traduction, résumé, Q&amp;A en une ligne de code. Zero-shot pour tout classifier.</a:t>
            </a:r>
            <a:endParaRPr lang="en-US" sz="1200" dirty="0"/>
          </a:p>
        </p:txBody>
      </p:sp>
      <p:sp>
        <p:nvSpPr>
          <p:cNvPr id="11" name="Shape 7"/>
          <p:cNvSpPr/>
          <p:nvPr/>
        </p:nvSpPr>
        <p:spPr>
          <a:xfrm>
            <a:off x="365760" y="2834640"/>
            <a:ext cx="8412480" cy="777240"/>
          </a:xfrm>
          <a:prstGeom prst="rect">
            <a:avLst/>
          </a:prstGeom>
          <a:solidFill>
            <a:srgbClr val="FBF3F6"/>
          </a:solidFill>
          <a:ln/>
        </p:spPr>
      </p:sp>
      <p:pic>
        <p:nvPicPr>
          <p:cNvPr id="12" name="Image 2" descr="preencoded.png"/>
          <p:cNvPicPr>
            <a:picLocks noChangeAspect="1"/>
          </p:cNvPicPr>
          <p:nvPr/>
        </p:nvPicPr>
        <p:blipFill>
          <a:blip r:embed="rId5"/>
          <a:stretch>
            <a:fillRect/>
          </a:stretch>
        </p:blipFill>
        <p:spPr>
          <a:xfrm>
            <a:off x="548640" y="2999232"/>
            <a:ext cx="457200" cy="457200"/>
          </a:xfrm>
          <a:prstGeom prst="rect">
            <a:avLst/>
          </a:prstGeom>
        </p:spPr>
      </p:pic>
      <p:sp>
        <p:nvSpPr>
          <p:cNvPr id="13" name="Text 8"/>
          <p:cNvSpPr/>
          <p:nvPr/>
        </p:nvSpPr>
        <p:spPr>
          <a:xfrm>
            <a:off x="1188720" y="28529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Choisissez le bon outil</a:t>
            </a:r>
            <a:endParaRPr lang="en-US" sz="1500" dirty="0"/>
          </a:p>
        </p:txBody>
      </p:sp>
      <p:sp>
        <p:nvSpPr>
          <p:cNvPr id="14" name="Text 9"/>
          <p:cNvSpPr/>
          <p:nvPr/>
        </p:nvSpPr>
        <p:spPr>
          <a:xfrm>
            <a:off x="1188720" y="31821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Keras pour débuter, PyTorch pour la flexibilité, TensorFlow pour la production. Tous arrivent au même résultat.</a:t>
            </a:r>
            <a:endParaRPr lang="en-US" sz="1200" dirty="0"/>
          </a:p>
        </p:txBody>
      </p:sp>
      <p:sp>
        <p:nvSpPr>
          <p:cNvPr id="15" name="Shape 10"/>
          <p:cNvSpPr/>
          <p:nvPr/>
        </p:nvSpPr>
        <p:spPr>
          <a:xfrm>
            <a:off x="365760" y="3749040"/>
            <a:ext cx="8412480" cy="777240"/>
          </a:xfrm>
          <a:prstGeom prst="rect">
            <a:avLst/>
          </a:prstGeom>
          <a:solidFill>
            <a:srgbClr val="FFFFFF"/>
          </a:solidFill>
          <a:ln/>
        </p:spPr>
      </p:sp>
      <p:pic>
        <p:nvPicPr>
          <p:cNvPr id="16" name="Image 3" descr="preencoded.png"/>
          <p:cNvPicPr>
            <a:picLocks noChangeAspect="1"/>
          </p:cNvPicPr>
          <p:nvPr/>
        </p:nvPicPr>
        <p:blipFill>
          <a:blip r:embed="rId6"/>
          <a:stretch>
            <a:fillRect/>
          </a:stretch>
        </p:blipFill>
        <p:spPr>
          <a:xfrm>
            <a:off x="548640" y="3913632"/>
            <a:ext cx="457200" cy="457200"/>
          </a:xfrm>
          <a:prstGeom prst="rect">
            <a:avLst/>
          </a:prstGeom>
        </p:spPr>
      </p:pic>
      <p:sp>
        <p:nvSpPr>
          <p:cNvPr id="17" name="Text 11"/>
          <p:cNvSpPr/>
          <p:nvPr/>
        </p:nvSpPr>
        <p:spPr>
          <a:xfrm>
            <a:off x="1188720" y="37673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MLOps pour professionnaliser</a:t>
            </a:r>
            <a:endParaRPr lang="en-US" sz="1500" dirty="0"/>
          </a:p>
        </p:txBody>
      </p:sp>
      <p:sp>
        <p:nvSpPr>
          <p:cNvPr id="18" name="Text 12"/>
          <p:cNvSpPr/>
          <p:nvPr/>
        </p:nvSpPr>
        <p:spPr>
          <a:xfrm>
            <a:off x="1188720" y="40965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MLflow, W&amp;B et DVC pour suivre vos expériences, versionner vos modèles et reproduire vos résultats.</a:t>
            </a:r>
            <a:endParaRPr lang="en-US" sz="1200" dirty="0"/>
          </a:p>
        </p:txBody>
      </p:sp>
      <p:sp>
        <p:nvSpPr>
          <p:cNvPr id="19" name="Text 1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 / 24</a:t>
            </a:r>
            <a:endParaRPr lang="en-US" sz="900" dirty="0"/>
          </a:p>
        </p:txBody>
      </p:sp>
      <p:sp>
        <p:nvSpPr>
          <p:cNvPr id="20" name="Text 1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A0A1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6D2E46"/>
          </a:solidFill>
          <a:ln/>
        </p:spPr>
      </p:sp>
      <p:pic>
        <p:nvPicPr>
          <p:cNvPr id="3" name="Image 0" descr="preencoded.png"/>
          <p:cNvPicPr>
            <a:picLocks noChangeAspect="1"/>
          </p:cNvPicPr>
          <p:nvPr/>
        </p:nvPicPr>
        <p:blipFill>
          <a:blip r:embed="rId3"/>
          <a:stretch>
            <a:fillRect/>
          </a:stretch>
        </p:blipFill>
        <p:spPr>
          <a:xfrm>
            <a:off x="3977640" y="1371600"/>
            <a:ext cx="1097280" cy="1097280"/>
          </a:xfrm>
          <a:prstGeom prst="rect">
            <a:avLst/>
          </a:prstGeom>
        </p:spPr>
      </p:pic>
      <p:sp>
        <p:nvSpPr>
          <p:cNvPr id="4" name="Text 1"/>
          <p:cNvSpPr/>
          <p:nvPr/>
        </p:nvSpPr>
        <p:spPr>
          <a:xfrm>
            <a:off x="457200" y="2560320"/>
            <a:ext cx="8229600" cy="73152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Merci !</a:t>
            </a:r>
            <a:endParaRPr lang="en-US" sz="4000" dirty="0"/>
          </a:p>
        </p:txBody>
      </p:sp>
      <p:sp>
        <p:nvSpPr>
          <p:cNvPr id="5" name="Text 2"/>
          <p:cNvSpPr/>
          <p:nvPr/>
        </p:nvSpPr>
        <p:spPr>
          <a:xfrm>
            <a:off x="457200" y="3291840"/>
            <a:ext cx="8229600" cy="457200"/>
          </a:xfrm>
          <a:prstGeom prst="rect">
            <a:avLst/>
          </a:prstGeom>
          <a:noFill/>
          <a:ln/>
        </p:spPr>
        <p:txBody>
          <a:bodyPr wrap="square"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Questions ?</a:t>
            </a:r>
            <a:endParaRPr lang="en-US" sz="2000" dirty="0"/>
          </a:p>
        </p:txBody>
      </p:sp>
      <p:sp>
        <p:nvSpPr>
          <p:cNvPr id="6" name="Shape 3"/>
          <p:cNvSpPr/>
          <p:nvPr/>
        </p:nvSpPr>
        <p:spPr>
          <a:xfrm>
            <a:off x="3200400" y="3840480"/>
            <a:ext cx="2743200" cy="36576"/>
          </a:xfrm>
          <a:prstGeom prst="rect">
            <a:avLst/>
          </a:prstGeom>
          <a:solidFill>
            <a:srgbClr val="6D2E46"/>
          </a:solidFill>
          <a:ln/>
        </p:spPr>
      </p:sp>
      <p:sp>
        <p:nvSpPr>
          <p:cNvPr id="7" name="Text 4"/>
          <p:cNvSpPr/>
          <p:nvPr/>
        </p:nvSpPr>
        <p:spPr>
          <a:xfrm>
            <a:off x="457200" y="4114800"/>
            <a:ext cx="8229600" cy="365760"/>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Babacar GUEYE  •  gueyebaba159@gmail.com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2740</Words>
  <Application>Microsoft Office PowerPoint</Application>
  <PresentationFormat>Affichage à l'écran (16:9)</PresentationFormat>
  <Paragraphs>383</Paragraphs>
  <Slides>25</Slides>
  <Notes>24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25</vt:i4>
      </vt:variant>
    </vt:vector>
  </HeadingPairs>
  <TitlesOfParts>
    <vt:vector size="30" baseType="lpstr">
      <vt:lpstr>Arial</vt:lpstr>
      <vt:lpstr>Calibri</vt:lpstr>
      <vt:lpstr>Consolas</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 Séquences &amp; Outils Modernes de l'IA</dc:title>
  <dc:subject>PptxGenJS Presentation</dc:subject>
  <dc:creator>Babacar GUEYE</dc:creator>
  <cp:lastModifiedBy>Babacar Gueye</cp:lastModifiedBy>
  <cp:revision>9</cp:revision>
  <dcterms:created xsi:type="dcterms:W3CDTF">2026-03-25T05:14:45Z</dcterms:created>
  <dcterms:modified xsi:type="dcterms:W3CDTF">2026-03-25T14:15:18Z</dcterms:modified>
</cp:coreProperties>
</file>