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3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4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5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rts/chart6.xml" ContentType="application/vnd.openxmlformats-officedocument.drawingml.chart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96" r:id="rId17"/>
    <p:sldId id="271" r:id="rId18"/>
    <p:sldId id="272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Arbre Seul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92</c:v>
                </c:pt>
                <c:pt idx="2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5A-4861-8EDC-596C411E45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800" b="0" i="0" u="none" strike="noStrike">
                <a:solidFill>
                  <a:srgbClr val="000000"/>
                </a:solidFill>
                <a:latin typeface="Arial"/>
              </a:rPr>
              <a:t>Feature Importance Example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336667520218509"/>
          <c:y val="0.22013888888888888"/>
          <c:w val="0.79590561850500396"/>
          <c:h val="0.692522965879265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Âge</c:v>
                </c:pt>
                <c:pt idx="1">
                  <c:v>Revenu</c:v>
                </c:pt>
                <c:pt idx="2">
                  <c:v>Éducation</c:v>
                </c:pt>
                <c:pt idx="3">
                  <c:v>Profession</c:v>
                </c:pt>
                <c:pt idx="4">
                  <c:v>Région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4B-4CCE-9AB3-89AD7C3B62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 Temps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34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597-47FF-A44D-AA991FBEBE05}"/>
              </c:ext>
            </c:extLst>
          </c:dPt>
          <c:dPt>
            <c:idx val="1"/>
            <c:bubble3D val="0"/>
            <c:spPr>
              <a:solidFill>
                <a:srgbClr val="1621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97-47FF-A44D-AA991FBEBE05}"/>
              </c:ext>
            </c:extLst>
          </c:dPt>
          <c:dPt>
            <c:idx val="2"/>
            <c:bubble3D val="0"/>
            <c:spPr>
              <a:solidFill>
                <a:srgbClr val="E945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97-47FF-A44D-AA991FBEBE05}"/>
              </c:ext>
            </c:extLst>
          </c:dPt>
          <c:dPt>
            <c:idx val="3"/>
            <c:bubble3D val="0"/>
            <c:spPr>
              <a:solidFill>
                <a:srgbClr val="1A1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597-47FF-A44D-AA991FBEBE05}"/>
              </c:ext>
            </c:extLst>
          </c:dPt>
          <c:dPt>
            <c:idx val="4"/>
            <c:bubble3D val="0"/>
            <c:spPr>
              <a:solidFill>
                <a:srgbClr val="6666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597-47FF-A44D-AA991FBEBE05}"/>
              </c:ext>
            </c:extLst>
          </c:dPt>
          <c:dPt>
            <c:idx val="5"/>
            <c:bubble3D val="0"/>
            <c:spPr>
              <a:solidFill>
                <a:srgbClr val="F0F0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597-47FF-A44D-AA991FBEBE05}"/>
              </c:ext>
            </c:extLst>
          </c:dPt>
          <c:cat>
            <c:strRef>
              <c:f>Sheet1!$A$2:$A$7</c:f>
              <c:strCache>
                <c:ptCount val="6"/>
                <c:pt idx="0">
                  <c:v>Collecte</c:v>
                </c:pt>
                <c:pt idx="1">
                  <c:v>Nettoyage</c:v>
                </c:pt>
                <c:pt idx="2">
                  <c:v>Feature Eng.</c:v>
                </c:pt>
                <c:pt idx="3">
                  <c:v>Modélisation</c:v>
                </c:pt>
                <c:pt idx="4">
                  <c:v>Évaluation</c:v>
                </c:pt>
                <c:pt idx="5">
                  <c:v>Déploiement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25</c:v>
                </c:pt>
                <c:pt idx="2">
                  <c:v>25</c:v>
                </c:pt>
                <c:pt idx="3">
                  <c:v>15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597-47FF-A44D-AA991FBEBE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Sans Scaling</c:v>
                </c:pt>
                <c:pt idx="1">
                  <c:v>StandardScaler</c:v>
                </c:pt>
                <c:pt idx="2">
                  <c:v>MinMaxScaler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94</c:v>
                </c:pt>
                <c:pt idx="2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C7-4B07-900F-B1B03C0957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Decision Tree</c:v>
                </c:pt>
                <c:pt idx="1">
                  <c:v>Random Forest (10)</c:v>
                </c:pt>
                <c:pt idx="2">
                  <c:v>Random Forest (100)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89</c:v>
                </c:pt>
                <c:pt idx="2">
                  <c:v>92</c:v>
                </c:pt>
                <c:pt idx="3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C6-4C60-8991-D91A16E3A2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 (%)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Code</c:v>
                </c:pt>
                <c:pt idx="1">
                  <c:v>Feature Eng.</c:v>
                </c:pt>
                <c:pt idx="2">
                  <c:v>Résultats</c:v>
                </c:pt>
                <c:pt idx="3">
                  <c:v>Analyse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30</c:v>
                </c:pt>
                <c:pt idx="2">
                  <c:v>30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94-4888-AAC0-FF206A134D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343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Techniques Avancées de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Séance 03 - EFREI Paris M2 DEV G1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Babacar GUEYE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Rappel de Séance 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Types d'Apprentissage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Non-supervisé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828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Algorithmes Clés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1600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1828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Métriques de Performance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600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F1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MSE, R²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1097280"/>
            <a:ext cx="1828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294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Croisée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1600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d'Aujourd'hui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d'Ensemble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56032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Partie 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3280" y="173736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005840"/>
            <a:ext cx="256032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Partie 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26480" y="173736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Objectifs de Séance 03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et implémenter les méthodes d'ensemble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3716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la réduction de dimension (PCA, t-SNE)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37160" cy="5486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 feature engineering avancé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3716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approches selon le contexte du problème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137160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5760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Pratiquer avec scikit-learn et XGBoost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Méthodes d'Ensemble: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Force du Collectif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3657600"/>
            <a:ext cx="5486400" cy="45720"/>
          </a:xfrm>
          <a:prstGeom prst="rect">
            <a:avLst/>
          </a:prstGeom>
          <a:solidFill>
            <a:srgbClr val="E9456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Combiner des Modèles?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Sagesse Collective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l'avis à 100 personnes plutôt qu'à 1 seule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3749040" cy="731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46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modèle seul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 et biaisé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374904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69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Plusieurs modèles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diversifiés = meilleure généralisation</a:t>
            </a:r>
            <a:endParaRPr lang="en-US" sz="11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846320" y="10058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 d'ensemble: Bagging vs Boosting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BAGGING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Parallèles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0" y="2651760"/>
            <a:ext cx="2286000" cy="4572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/ Moyenne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7490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1737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Séquentiels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760720" y="2651760"/>
            <a:ext cx="201168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Pondérée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Bagging: Bootstrap Aggregating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548640" cy="54864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Bootstrap Sampling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→ N sous-ensembles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remplacement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17320" y="1325880"/>
            <a:ext cx="320040" cy="914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1097280"/>
            <a:ext cx="548640" cy="54864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01752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Entraîner en Parallèle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2860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modèles identiques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1325880"/>
            <a:ext cx="320040" cy="914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097280"/>
            <a:ext cx="548640" cy="54864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76072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22860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majoritaire ou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Avantages: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la variance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Parallélisable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estimation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Exemple Concret: Bagging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69126"/>
            <a:ext cx="822960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1645920" cy="3657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emails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(Spam / Non-spam)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2286000"/>
            <a:ext cx="73152" cy="5486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8" name="Shape 6"/>
          <p:cNvSpPr/>
          <p:nvPr/>
        </p:nvSpPr>
        <p:spPr>
          <a:xfrm>
            <a:off x="2560320" y="1280160"/>
            <a:ext cx="1645920" cy="3657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Sous-ensembles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17830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sets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emails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286000"/>
            <a:ext cx="73152" cy="5486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1280160"/>
            <a:ext cx="1645920" cy="3657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Modèles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17830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arbres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décision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286000"/>
            <a:ext cx="73152" cy="5486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280160"/>
            <a:ext cx="1645920" cy="3657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7830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spam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non-spam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3383280"/>
            <a:ext cx="4572000" cy="731520"/>
          </a:xfrm>
          <a:prstGeom prst="rect">
            <a:avLst/>
          </a:prstGeom>
          <a:solidFill>
            <a:srgbClr val="E94560"/>
          </a:solidFill>
          <a:ln w="254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3383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Verdict Final: SPAM 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"Même si certains modèles se trompent, la majorité a raison"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Bagging +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Sélection Aléatoire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Features à chaque Split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aléatoire?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Décorréler les arbres!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tous les arbres voient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mêmes features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erreurs → pas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d'amélioration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748284084"/>
              </p:ext>
            </p:extLst>
          </p:nvPr>
        </p:nvGraphicFramePr>
        <p:xfrm>
          <a:off x="4826725" y="1005840"/>
          <a:ext cx="37490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Forest: Hyperparamètres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d'arbres (100-500)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1887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= mieux mais plus lent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max (None/10-20)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0574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= illimité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88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min_samples_split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Échantillons min pour split (2-10)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9260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l'overfitting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max_features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par split (sqrt)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7947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sqrt pour classification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Astuce: commencer avec les defaults, puis GridSearchCV pour optimiser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Boosting: L'Apprentissage Séquentiel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Itération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faible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erreurs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2743200"/>
            <a:ext cx="182880" cy="3657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1097280"/>
            <a:ext cx="256032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Itération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modèle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3017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Focalisé sur erreurs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2743200"/>
            <a:ext cx="182880" cy="3657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1097280"/>
            <a:ext cx="256032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Itération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Encore un modèle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3017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difficiles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Combiner avec poids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Boosting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Clé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séquentielle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résidus (erreurs)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fonction de loss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(MSE, Log-loss)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contrôle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l'impact de chaque arbre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robuste et stable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7490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Analogie: Le Sculpteur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8288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"Comme un sculpteur qui affine progressivement sa statue..."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3108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Ébauche grossière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Affinage détails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Polissage final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4069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Sculpture parfaite !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&amp; LightGBM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L1/L2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support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NaN natif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industrie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solutions gagnantes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utilise XGBoost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005840"/>
            <a:ext cx="41148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LightGBM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73736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splitting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rapide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mémoire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natives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gros datasets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vraiment énorme data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Comparaison Complète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508760" cy="594360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Critère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0" y="1097280"/>
            <a:ext cx="1508760" cy="594360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0972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Bagging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66160" y="1097280"/>
            <a:ext cx="1508760" cy="594360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0972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Boosting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1097280"/>
            <a:ext cx="1508760" cy="594360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0972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1097280"/>
            <a:ext cx="1508760" cy="594360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0972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916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11680" y="169164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6916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Parallèle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66160" y="169164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6916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Séquentiel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169164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6916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Parallèle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169164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6916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Séquentiel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150876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286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Réduit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0" y="2286000"/>
            <a:ext cx="150876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2286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66160" y="2286000"/>
            <a:ext cx="150876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2286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Biais+Variance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2286000"/>
            <a:ext cx="150876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286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75120" y="2286000"/>
            <a:ext cx="150876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2286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Biais+Variance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288036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8803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Vitesse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11680" y="288036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0" y="28803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66160" y="288036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28803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0" y="288036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28803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75120" y="288036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28803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3474720"/>
            <a:ext cx="150876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74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011680" y="3474720"/>
            <a:ext cx="150876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11680" y="3474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66160" y="3474720"/>
            <a:ext cx="150876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160" y="3474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120640" y="3474720"/>
            <a:ext cx="150876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3474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75120" y="3474720"/>
            <a:ext cx="150876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3474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06908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0690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011680" y="406908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0" y="40690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566160" y="406908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66160" y="40690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bonne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120640" y="406908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20640" y="40690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bonne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675120" y="4069080"/>
            <a:ext cx="1508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75120" y="40690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42218A2-CAC6-4D13-DC09-F12726807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97" y="202474"/>
            <a:ext cx="7718006" cy="450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80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 Utiliser Quoi?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petit + features peu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74904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(robuste, peu de tuning)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4114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moyen + perf max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374904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11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(meilleur accuracy)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097280"/>
            <a:ext cx="4114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très large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1783080"/>
            <a:ext cx="374904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783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LightGBM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22860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(rapide, efficient)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926080"/>
            <a:ext cx="4114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rapide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3611880"/>
            <a:ext cx="374904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611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Bagging simple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4114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(facile à comprendre)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Réduction 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</a:t>
            </a:r>
            <a:endParaRPr lang="en-US"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PCA: Intuition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"Comme prendre une photo d'une sculpture 3D"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perd une dimension mais on capture l'essentiel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axes de MAXIMUM variance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= direction plus grande variance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= perpendiculaire à PC1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2ème plus grande variance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1097280"/>
            <a:ext cx="3200400" cy="1645920"/>
          </a:xfrm>
          <a:prstGeom prst="ellipse">
            <a:avLst/>
          </a:prstGeom>
          <a:solidFill>
            <a:srgbClr val="0F3460">
              <a:alpha val="30000"/>
            </a:srgbClr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2057400"/>
            <a:ext cx="2194560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920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1371600"/>
            <a:ext cx="0" cy="1371600"/>
          </a:xfrm>
          <a:prstGeom prst="line">
            <a:avLst/>
          </a:prstGeom>
          <a:noFill/>
          <a:ln w="38100">
            <a:solidFill>
              <a:srgbClr val="1621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651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1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PC2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PCA: Exemple Concret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1783080" cy="3657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Digits: images 8×8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280160"/>
            <a:ext cx="1783080" cy="3657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280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17830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1783080" cy="3657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280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Réduction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7830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à 2 composantes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1280160"/>
            <a:ext cx="1783080" cy="3657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280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Visualisation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178308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Possible!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Variance Expliquée: PC1=12%, PC2=10% → 22% en 2D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39319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"Même avec 22%, les clusters de chiffres sont visibles!"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t-SNE: Visualisation Non-Linéaire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Caractéristiques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Préserve distances LOCALES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Non-linéaire (≠ PCA)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Paramètre: perplexité (5-50)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pour visualiser clusters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lent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Non-déterministe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absolues non fiables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7490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 l'Utiliser?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6916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de données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clusters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structure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modérés (&lt; 1M points)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PCA pour accélérer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PCA: plus beau, moins rapide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PCA vs t-SNE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97480" cy="640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1097280"/>
            <a:ext cx="2697480" cy="640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10972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097280"/>
            <a:ext cx="2697480" cy="640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0972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t-SNE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2697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37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Linéarité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737360"/>
            <a:ext cx="2697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37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737360"/>
            <a:ext cx="2697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737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Non-linéaire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2697480" cy="640080"/>
          </a:xfrm>
          <a:prstGeom prst="rect">
            <a:avLst/>
          </a:prstGeom>
          <a:solidFill>
            <a:srgbClr val="F8F9F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377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Vitesse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377440"/>
            <a:ext cx="2697480" cy="640080"/>
          </a:xfrm>
          <a:prstGeom prst="rect">
            <a:avLst/>
          </a:prstGeom>
          <a:solidFill>
            <a:srgbClr val="F8F9F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377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2377440"/>
            <a:ext cx="2697480" cy="640080"/>
          </a:xfrm>
          <a:prstGeom prst="rect">
            <a:avLst/>
          </a:prstGeom>
          <a:solidFill>
            <a:srgbClr val="F8F9F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3774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2697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017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3017520"/>
            <a:ext cx="2697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017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3017520"/>
            <a:ext cx="2697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017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2697480" cy="640080"/>
          </a:xfrm>
          <a:prstGeom prst="rect">
            <a:avLst/>
          </a:prstGeom>
          <a:solidFill>
            <a:srgbClr val="F8F9F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657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Utilisation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3657600"/>
            <a:ext cx="2697480" cy="640080"/>
          </a:xfrm>
          <a:prstGeom prst="rect">
            <a:avLst/>
          </a:prstGeom>
          <a:solidFill>
            <a:srgbClr val="F8F9F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657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ML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3657600"/>
            <a:ext cx="2697480" cy="640080"/>
          </a:xfrm>
          <a:prstGeom prst="rect">
            <a:avLst/>
          </a:prstGeom>
          <a:solidFill>
            <a:srgbClr val="F8F9FA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657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97680"/>
            <a:ext cx="2697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297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Interprétabilité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0" y="4297680"/>
            <a:ext cx="2697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4297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0" y="4297680"/>
            <a:ext cx="2697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4297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visibles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771209"/>
            <a:ext cx="822960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7777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"PCA pour préparer les données, t-SNE pour les explorer"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UMAP: Alternative Moderne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371600"/>
            <a:ext cx="365760" cy="3657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rapide que t-SNE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2148840"/>
            <a:ext cx="365760" cy="3657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Préserve mieux la structure globale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2926080"/>
            <a:ext cx="365760" cy="3657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2926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Paramètres: n_neighbors, min_dist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0" y="3703320"/>
            <a:ext cx="365760" cy="3657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7440" y="3703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plus en plus utilisé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45920" y="4389120"/>
            <a:ext cx="585216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4389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à t-SNE comme nouvelle approche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Engineering: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L'Art de Préparer les Données</a:t>
            </a:r>
            <a:endParaRPr lang="en-US" sz="4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le Feature Engineering?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is king, but features are queen"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direct sur performance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FE &gt; Meilleur algorithme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du temps Data Scientist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préparer les données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métier = clé!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754880" y="1005840"/>
          <a:ext cx="37490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Encodage Catégorique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One-Hot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k colonnes binaires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[R,V,B] → [1,0,0], [0,1,0], [0,0,1]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2560320" cy="3657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Quand: pas d'ordre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Entiers (0,1,2)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Rouge=0, Vert=1, Bleu=2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3383280"/>
            <a:ext cx="2560320" cy="3657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Attention: implique un ordre!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Ordinal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catégories ordonnées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2860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Petit=1, Moyen=2, Grand=3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383280"/>
            <a:ext cx="2560320" cy="3657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ordre naturel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Encodage: Pièges à Éviter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Piège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94560" y="12344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 Encoding sur des couleurs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modèle pense Rouge &lt; Vert &lt; Bleu!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Utiliser One-Hot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Piège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30632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One-Hot sur 1000 catégories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1000 colonnes = explosion dimensionnelle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Target/Frequency Encoding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"Toujours réfléchir à la NATURE de la variable avant d'encoder"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Mise à l'Échelle (Scaling)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StandardScaler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37744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(x-μ)/σ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Centré (μ=0, σ=1)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k-NN, Neural Nets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MinMaxScaler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783080"/>
            <a:ext cx="237744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(x-min)/(max-min)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[0,1]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Networks, images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27432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RobustScaler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1783080"/>
            <a:ext cx="237744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(x-median)/IQR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outliers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834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avec valeurs extrêmes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Scaler est Crucial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Exemple Concret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1: Âge [20-70]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2: Salaire [20k-200k]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scaling: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dominé par Salaire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(distances 1000x plus grandes!)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scaling: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features contribuent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équitablement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754880" y="1005840"/>
          <a:ext cx="37490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Création de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18288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Combinaisons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23444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prix_par_m2 = prix / surface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18288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Polynomiales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10312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age², age³ pour non-linéarités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971800"/>
            <a:ext cx="18288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71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Temporelles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9718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jour_semaine, mois, heure_pointe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840480"/>
            <a:ext cx="1828800" cy="5486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Domaine Spécifique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84048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= poids / taille²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"Les meilleures features viennent de l'expertise métier!"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Sélection de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avec target, variance, chi2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Rapide, indépendant du modèle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7432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Wrapper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 (Recursive Feature Elimination)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834640"/>
            <a:ext cx="256032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Tient compte du modèle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7432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(RF, XGBoost), L1 reg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834640"/>
            <a:ext cx="256032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 au modèle, efficace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"Moins de features = moins de bruit, plus de vitesse, moins d'overfitting"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94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Démonstrations &amp;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Atelier Pratique</a:t>
            </a:r>
            <a:endParaRPr lang="en-US" sz="4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 1: Decision Tree vs Random Forest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3474720"/>
          </a:xfrm>
          <a:prstGeom prst="rect">
            <a:avLst/>
          </a:prstGeom>
          <a:solidFill>
            <a:srgbClr val="2A2A3E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3474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DecisionTreeClassifier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 = DecisionTreeClassifier()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RandomForestClassifier(n_estimators=100)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dt.fit(X_train, y_train)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rf.fit(X_train, y_train)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dt_score = dt.score(X_test, y_test)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rf_score = rf.score(X_test, y_test)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389120" y="100584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 2: PCA + Scaling + SVM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3474720"/>
          </a:xfrm>
          <a:prstGeom prst="rect">
            <a:avLst/>
          </a:prstGeom>
          <a:solidFill>
            <a:srgbClr val="2A2A3E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34747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sklearn.svm import SVC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PCA(n_components=2)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svm = SVC()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 = scaler.fit_transform(X)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X_pca = pca.fit_transform(X_scaled)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svm.fit(X_pca, y)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svm.score(X_pca, y)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389120" y="1005840"/>
            <a:ext cx="41148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188720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Digits (64 features)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réduit à 2 composantes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avant SVM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standard en ML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Visualisation possible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Plus rapide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Meilleure généralisation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Atelier: Feature Engineering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credit_default.csv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variables catégoriques/numériques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pour catégories nominales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743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pour education level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65760" cy="3657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2918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sur features numériques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8404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corrélations (heatmap)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Atelier: Modèles d'Ensemble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RandomForest et GradientBoosting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accuracy, precision, recall, F1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feature importance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743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PCA (2 composantes)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65760" cy="36576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29184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2D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8404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t-SNE visualization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Critères de Rendu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05840"/>
          <a:ext cx="4114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4754880" y="1005840"/>
            <a:ext cx="37490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0" y="1280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qualité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0" y="15361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0" y="1536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Propreté, structure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0" y="20574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2313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0" y="2313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Créativité, efficacité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0" y="28346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0" y="30906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0" y="30906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Comparaisons, charts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0" y="3611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38679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83680" y="38679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Conclusions, insights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Méthodes d'Ensemble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(variance↓)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(biais↓)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Réduction de Dimension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(linéaire, rapide)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(non-linéaire, clusters)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(alternative moderne)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005840"/>
            <a:ext cx="26517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188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1783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F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Babacar GUEYE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EFREI Paris M2 DEV G1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1567</Words>
  <Application>Microsoft Office PowerPoint</Application>
  <PresentationFormat>Affichage à l'écran (16:9)</PresentationFormat>
  <Paragraphs>509</Paragraphs>
  <Slides>39</Slides>
  <Notes>38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Courier New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Babacar Gueye</cp:lastModifiedBy>
  <cp:revision>5</cp:revision>
  <dcterms:created xsi:type="dcterms:W3CDTF">2026-03-23T20:03:27Z</dcterms:created>
  <dcterms:modified xsi:type="dcterms:W3CDTF">2026-03-25T08:21:19Z</dcterms:modified>
</cp:coreProperties>
</file>