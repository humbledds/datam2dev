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6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05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à l'Intelligence Artificielle et Écosystème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Paris, M2 DEV G1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mars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768634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1: Cours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194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1h15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Fondamentaux IA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Histoire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Sous-domaines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3768634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2: Démo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194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Iris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Hugging 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95251"/>
            <a:ext cx="2560320" cy="3768634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3: Atelier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194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1h45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Titanic dataset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k-NN ML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Pédagogiques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fondamentaux de l'IA</a:t>
            </a:r>
            <a:endParaRPr lang="en-US" sz="1600" dirty="0"/>
          </a:p>
        </p:txBody>
      </p:sp>
      <p:pic>
        <p:nvPicPr>
          <p:cNvPr id="7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18872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03120"/>
            <a:ext cx="320040" cy="3200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2057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les domaines et applications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320040" cy="3200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97280" y="29260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les bases de Python pour ML/DL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97280" y="37947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premier algorithme ML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320040" cy="3200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097280" y="4663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outils d'un Data Scientist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1: Qu'est-ce que l'Intelligence Artificielle?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Définition de l'Intelligence Artificielle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est la science et la technologie permettant aux machines de: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39319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données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motifs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Prendre des décisions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S'adapter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s'améliorer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1097280" cy="10972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554480"/>
            <a:ext cx="914400" cy="9144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1371600"/>
            <a:ext cx="1097280" cy="10972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Données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Apprentissage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Intelligence</a:t>
            </a:r>
            <a:endParaRPr lang="en-US" sz="1200" dirty="0"/>
          </a:p>
        </p:txBody>
      </p:sp>
      <p:pic>
        <p:nvPicPr>
          <p:cNvPr id="12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4747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vs Programmation Classique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3680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Programmation Classique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566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→ Données → Résultat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température &gt; 30°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ALORS afficher 'chaud'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95251"/>
            <a:ext cx="3931920" cy="36804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Artificielle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566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+ Résultat → Règles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APPREND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seuils et patterns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Test de Turing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Proposé par Alan Turing en 1950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10312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Juré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1874520"/>
            <a:ext cx="274320" cy="27432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645920"/>
            <a:ext cx="210312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645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4960" y="1874520"/>
            <a:ext cx="274320" cy="27432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1645920"/>
            <a:ext cx="210312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645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Verdict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juré conversat avec deux entités (humain + machine)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juré tente de déterminer qui est la machine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l'IA trompe le juré, elle passe le test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2332" y="46863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Toujours pertinent après 75+ ans!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Faible vs IA Forte (AGI)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344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Faible (Spécialisée)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conscience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Tâche spécifique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Excellente performance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Siri, Alexa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AlphaGo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ChatGPT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201782"/>
            <a:ext cx="3931920" cy="3442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Forte (AGI)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566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Intelligence générale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Conscience potentielle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Résout tout problème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Encore théorique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Objectif futur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</a:rPr>
              <a:t>Aujourd'hui → toute l'IA commerciale est de l'IA Faible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L'Histoire de l'Intelligence Artificielle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Débuts (1950-1970)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731520" cy="7315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1950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554480"/>
            <a:ext cx="54864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Turing publie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"Computing Machinery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and Intelligence"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188720"/>
            <a:ext cx="731520" cy="73152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1956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548640" cy="0"/>
          </a:xfrm>
          <a:prstGeom prst="line">
            <a:avLst/>
          </a:prstGeom>
          <a:noFill/>
          <a:ln w="254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031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Conférence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Dartmouth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(naissance de l'IA)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188720"/>
            <a:ext cx="731520" cy="73152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1966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ELIZA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premier chatbot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Hivers de l'IA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3396343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Premier Hiver (1974-1980)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566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Limitations matérielles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Promesses non tenues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Baisse du financement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Désenchantement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201782"/>
            <a:ext cx="3931920" cy="3396343"/>
          </a:xfrm>
          <a:prstGeom prst="rect">
            <a:avLst/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Deuxième Hiver (1987-1993)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566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Limites des systèmes experts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Marché effondré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Boom-and-bust cycle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Réductions budgétaires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Renaissance (1997-2020)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645920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1997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Deep Blue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bat Kasparov ♟️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64592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2011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1031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Watson gagne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Jeopardy!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164592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2012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1031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AlexNet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Révolutionne la vision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164592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71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2016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AlphaGo bat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</a:rPr>
              <a:t>Lee Sedol au Go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L'Explosion Actuelle (2020-2026)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371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ChatGPT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100M utilisateurs en 2 mois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</a:rPr>
              <a:t>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GPT-4, Claude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Modèles révolutionnaires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</a:rPr>
              <a:t>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IA Générative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Code, Images, Vidéo, Musique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</a:rPr>
              <a:t>2024-26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41171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Investissement en IA (en Milliards USD):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115491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2018: $40B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$68B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2022: $92B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$150B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$200B (projection)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Domaines d'Application de l'IA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Répartition du Marché IA par Secteur (2025)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92777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Santé: 20%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16137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Industrie: 10%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2777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Finance: 18%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16137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NLP: 10%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2777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Transport: 15%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16137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Vision: 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2777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Retail: 12%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6137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Autres: 7%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Santé: IA pour la Vie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9342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31424"/>
            <a:ext cx="3931920" cy="1451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par radiologie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de médicaments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patients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génomes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maladies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931920" cy="1645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94.5%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détection cancer du sein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0F0F0"/>
                </a:solidFill>
              </a:rPr>
              <a:t>Source: Nature Medicine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3017520"/>
            <a:ext cx="3931920" cy="213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Exemple Concret: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3291840"/>
            <a:ext cx="3931920" cy="1711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AlphaFold: prédit structures protéiques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DeepMind: ~100M structures prédites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Révolution en biologie moléculaire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 &amp; Assurance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1561011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Trading Algo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Renaissance: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 rendement annuel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931920" cy="1561011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Fraude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IA bloque: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milliards $/an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31030"/>
            <a:ext cx="3931920" cy="1247502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3566160" cy="184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Scoring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3566160" cy="6923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automatisée des risques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331029"/>
            <a:ext cx="3931920" cy="1247502"/>
          </a:xfrm>
          <a:prstGeom prst="rect">
            <a:avLst/>
          </a:prstGeom>
          <a:solidFill>
            <a:srgbClr val="27AE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429000"/>
            <a:ext cx="3566160" cy="184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886200"/>
            <a:ext cx="3566160" cy="6923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défauts de paiement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&amp; Automobile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8046720" cy="1371600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Véhicules Autonomes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Level 2, Waymo Level 4 | Niveaux: 0 (aucune automatisation) → 5 (autonome complet)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804672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77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Optimisation Logistique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Amazon: 30% réduction des coûts grâce à l'IA | Route planning optimisé en temps réel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804672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Prédiction de Trafic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Maps, Waze | Utilise ML pour prédire congestion et proposer itinéraires optimaux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NLP: Traitement du Langage Naturel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541417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76103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virtuels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560320" cy="1541417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5754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DeepL, Google Translate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langues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humaine atteinte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76102"/>
            <a:ext cx="2560320" cy="1541417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32856"/>
            <a:ext cx="2377440" cy="159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de Sentiment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090056"/>
            <a:ext cx="2377440" cy="914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marque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51619"/>
            <a:ext cx="8046720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88779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Exemple Concret: Analyse de Sentiment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63099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Texte: "Je déteste ce produit" → Sentiment: Négatif (95%)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par Ordinateur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2194560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Reconnaissance Faciale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 Apple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sécurisé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931920" cy="2194560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Détection d'Objets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temps réel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 autonomes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3931920" cy="1371600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2960" y="4297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documents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Num. de passeports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Chèques bancaires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3657600"/>
            <a:ext cx="393192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02920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Génération d'Images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029200" y="4297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DALL-E, Stable Diffusion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par IA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Sous-domaines Techniques de l'IA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Hiérarchie: IA &gt; ML &gt; DL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8046720" cy="3657600"/>
          </a:xfrm>
          <a:prstGeom prst="rect">
            <a:avLst/>
          </a:prstGeom>
          <a:solidFill>
            <a:srgbClr val="E8F0F8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Artificielle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6583680" cy="2560320"/>
          </a:xfrm>
          <a:prstGeom prst="rect">
            <a:avLst/>
          </a:prstGeom>
          <a:solidFill>
            <a:srgbClr val="D4E8F5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48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2651760"/>
            <a:ext cx="5120640" cy="1737360"/>
          </a:xfrm>
          <a:prstGeom prst="rect">
            <a:avLst/>
          </a:prstGeom>
          <a:solidFill>
            <a:srgbClr val="E94560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Générative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Learning: 3 Types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624943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Apprentissage Supervisé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194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étiquetées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→ Prédiction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3624943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Non-supervisé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194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seules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patterns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clients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3624943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Renforcement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1945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Action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Récompense/Punition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Robotique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Architecture: Multiples couches d'abstraction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210312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265176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320040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210312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265176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320040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210312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265176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320040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Entrée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Caché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63240" y="3657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Sortie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0" y="1645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Avantages: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194560"/>
            <a:ext cx="3807823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exceptionnelle sur données volumineuses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automatique de features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Non-linearité capture patterns complexes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 sur images, vidéo, langage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88676" y="3536769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Applications: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2" y="3491049"/>
            <a:ext cx="4343398" cy="13781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vocale (Alexa, Siri)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d'images (ImageNet)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(Google Translate)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texte (ChatGPT)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Générative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2194560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Llama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utilisateurs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F0F0"/>
                </a:solidFill>
              </a:rPr>
              <a:t>100M+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2194560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Gen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3, Midjourney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 &amp; Upscaling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F0F0"/>
                </a:solidFill>
              </a:rPr>
              <a:t>millions/jour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931920" cy="1211580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ChatGPT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 productivité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362994"/>
            <a:ext cx="3566160" cy="391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F0F0"/>
                </a:solidFill>
              </a:rPr>
              <a:t>+55% faster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3931920" cy="1211580"/>
          </a:xfrm>
          <a:prstGeom prst="rect">
            <a:avLst/>
          </a:prstGeom>
          <a:solidFill>
            <a:srgbClr val="27AE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Vidéo &amp; Audio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4297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(vidéo)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 AI (musique)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(voix)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4536077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0F0F0"/>
                </a:solidFill>
              </a:rPr>
              <a:t>Nouveau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Machine Learning Typique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6755" y="1737360"/>
            <a:ext cx="123444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156755" y="17373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Données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36915" y="2011680"/>
            <a:ext cx="22860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683803" y="1737360"/>
            <a:ext cx="123444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1683803" y="17373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63963" y="2011680"/>
            <a:ext cx="22860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3210851" y="1737360"/>
            <a:ext cx="1234440" cy="731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3210851" y="17373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91011" y="2011680"/>
            <a:ext cx="22860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737899" y="1737360"/>
            <a:ext cx="123444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4737899" y="17373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18059" y="2011680"/>
            <a:ext cx="22860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4947" y="1737360"/>
            <a:ext cx="123444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4947" y="17373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45107" y="2011680"/>
            <a:ext cx="228600" cy="182880"/>
          </a:xfrm>
          <a:prstGeom prst="rightArrow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91995" y="1737360"/>
            <a:ext cx="123444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7791995" y="17373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20" y="259134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</a:rPr>
              <a:t>Collecte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30968" y="259134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</a:rPr>
              <a:t>Nettoyage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58016" y="259134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</a:rPr>
              <a:t>Feature eng.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85064" y="259134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</a:rPr>
              <a:t>Entraîn.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12112" y="259134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</a:rPr>
              <a:t>Évaluation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39160" y="2591344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</a:rPr>
              <a:t>Production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Enjeux Éthiques de l'IA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1521823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Biais Algorithmiques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recrutement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discriminatoire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931920" cy="1521823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 Privée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2948940"/>
            <a:ext cx="3931920" cy="1521823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3131820"/>
            <a:ext cx="3566160" cy="253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Emploi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2960" y="3589020"/>
            <a:ext cx="3566160" cy="9511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création emplois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2948940"/>
            <a:ext cx="3931920" cy="1521823"/>
          </a:xfrm>
          <a:prstGeom prst="rect">
            <a:avLst/>
          </a:prstGeom>
          <a:solidFill>
            <a:srgbClr val="27AE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029200" y="3131820"/>
            <a:ext cx="3566160" cy="253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Responsabilité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029200" y="3589020"/>
            <a:ext cx="3566160" cy="9511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autonome: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responsable?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Technique du Data Scientist</a:t>
            </a:r>
            <a:endParaRPr lang="en-US" sz="4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-7184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Outils Essentiels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2194560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#1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560320" cy="2194560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56616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interactifs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56032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30936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puissant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657600"/>
            <a:ext cx="256032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29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296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code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83280" y="3657600"/>
            <a:ext cx="2560320" cy="1371600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5661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356616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de commande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126480" y="3657600"/>
            <a:ext cx="256032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3093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Conda/pip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6309360" y="4297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packages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Bibliothèques Python Essentielles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</a:rPr>
              <a:t>ML &amp; Data Processing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Algorithmes ML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Dataframes, data wrangling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Calcul numérique vectorisé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SciPy: Statistiques &amp; optimisation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Visualisation &amp; Deep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931920" cy="816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matplotlib/seaborn: Graphiques 2D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plotly: Visualisations interactives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TensorFlow/Keras: Deep Learning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Recherche &amp; production DL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Face: NLP &amp; transformers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72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Popularité des Bibliothèques Python (Downloads/mois):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92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NumPy: 180M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3092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Pandas: 150M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3092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scikit-learn: 85M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49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TensorFlow: 70M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549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PyTorch: 95M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5498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HuggingFace: 45M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2: Démonstration Pratique</a:t>
            </a:r>
            <a:endParaRPr lang="en-US" sz="4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de l'Environnement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env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env/bin/activate  # Linux/Mac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 pandas scikit-learn jupyter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notebook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70643E41-0D88-C0D5-F499-F79FB85A7FE2}"/>
              </a:ext>
            </a:extLst>
          </p:cNvPr>
          <p:cNvSpPr/>
          <p:nvPr/>
        </p:nvSpPr>
        <p:spPr>
          <a:xfrm>
            <a:off x="640080" y="483325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789D3DC-E365-41F8-6E2D-CF7BDD22F776}"/>
              </a:ext>
            </a:extLst>
          </p:cNvPr>
          <p:cNvSpPr/>
          <p:nvPr/>
        </p:nvSpPr>
        <p:spPr>
          <a:xfrm>
            <a:off x="822960" y="483325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env</a:t>
            </a:r>
            <a:endParaRPr lang="en-US" sz="12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78E420C-1CC5-89C9-269A-3DA23120A82F}"/>
              </a:ext>
            </a:extLst>
          </p:cNvPr>
          <p:cNvSpPr/>
          <p:nvPr/>
        </p:nvSpPr>
        <p:spPr>
          <a:xfrm>
            <a:off x="640080" y="2161903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2A781E1-058C-B3C9-034D-4518A57C3B72}"/>
              </a:ext>
            </a:extLst>
          </p:cNvPr>
          <p:cNvSpPr/>
          <p:nvPr/>
        </p:nvSpPr>
        <p:spPr>
          <a:xfrm>
            <a:off x="822960" y="2037805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fr-FR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\Scripts\activate.bat 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cmd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bash</a:t>
            </a:r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F6994DE-411F-B557-4FBC-6C9D2C030DF2}"/>
              </a:ext>
            </a:extLst>
          </p:cNvPr>
          <p:cNvSpPr/>
          <p:nvPr/>
        </p:nvSpPr>
        <p:spPr>
          <a:xfrm>
            <a:off x="640080" y="3017520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2B50D2D-2ED5-76F8-3AA9-A82F8D0A3DF5}"/>
              </a:ext>
            </a:extLst>
          </p:cNvPr>
          <p:cNvSpPr/>
          <p:nvPr/>
        </p:nvSpPr>
        <p:spPr>
          <a:xfrm>
            <a:off x="822960" y="3017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 pandas scikit-learn jupyter</a:t>
            </a:r>
            <a:endParaRPr lang="en-US" sz="12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2870874-F139-F01F-EDB3-7698DFA9AD4A}"/>
              </a:ext>
            </a:extLst>
          </p:cNvPr>
          <p:cNvSpPr/>
          <p:nvPr/>
        </p:nvSpPr>
        <p:spPr>
          <a:xfrm>
            <a:off x="640080" y="3840480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CB8DD1D-C29A-3EAA-D96A-1D09D7BD82FF}"/>
              </a:ext>
            </a:extLst>
          </p:cNvPr>
          <p:cNvSpPr/>
          <p:nvPr/>
        </p:nvSpPr>
        <p:spPr>
          <a:xfrm>
            <a:off x="82296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E4C34ED-087A-20B8-3037-846385DD36C6}"/>
              </a:ext>
            </a:extLst>
          </p:cNvPr>
          <p:cNvSpPr/>
          <p:nvPr/>
        </p:nvSpPr>
        <p:spPr>
          <a:xfrm>
            <a:off x="640080" y="1306285"/>
            <a:ext cx="8046720" cy="7315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D8BF862-1C97-7133-9B9D-DE64FDD60C27}"/>
              </a:ext>
            </a:extLst>
          </p:cNvPr>
          <p:cNvSpPr/>
          <p:nvPr/>
        </p:nvSpPr>
        <p:spPr>
          <a:xfrm>
            <a:off x="822960" y="1306285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fr-FR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\Scripts\Activate.ps1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# windows </a:t>
            </a:r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powershell</a:t>
            </a:r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808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Premier Script: Dataset Iris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 d'échantillons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19456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fleurs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 de classes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219456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espèces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 de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19456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(dimensions)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Sample Data: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8046720" cy="1645920"/>
          </a:xfrm>
          <a:prstGeom prst="rect">
            <a:avLst/>
          </a:prstGeom>
          <a:solidFill>
            <a:srgbClr val="F0F0F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sepal_length  sepal_width  petal_length  petal_width  species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1272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           3.5          1.4           0.2          Setosa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51129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           3.2          4.7           1.4          Versicolor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89534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           3.3          6.0           2.5          Virginica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Objectif: Classifier les espèces basé sur les 4 features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Hugging Face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8046720" cy="914400"/>
          </a:xfrm>
          <a:prstGeom prst="rect">
            <a:avLst/>
          </a:prstGeom>
          <a:solidFill>
            <a:srgbClr val="E94560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100,000+ modèles pré-entraînés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68096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• Vision • Speech • Multimodal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Exemple: Analyse de Sentiment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8046720" cy="960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432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 = pipeline("sentiment-analysis")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classifier("Ce film est incroyable!")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[{'label': 'POSITIVE', 'score': 0.985}]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8176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Résultats: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833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 film est incroyable!" → Positif (98.5%)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 déteste ce service" → Négatif (95.2%)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"C'est correct" → Neutre (62.3%)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3: Atelier Pratique - Dataset Titanic</a:t>
            </a:r>
            <a:endParaRPr lang="en-US" sz="4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 de l'Atelier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64622"/>
            <a:ext cx="268722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4622"/>
            <a:ext cx="268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064622"/>
            <a:ext cx="58782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Charger les données Titanic 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41862"/>
            <a:ext cx="268722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41862"/>
            <a:ext cx="268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841862"/>
            <a:ext cx="58782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Explorer avec head(), describe(), info()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19102"/>
            <a:ext cx="268722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19102"/>
            <a:ext cx="268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619102"/>
            <a:ext cx="58782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Traiter valeurs manquantes (imputation)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96342"/>
            <a:ext cx="268722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96342"/>
            <a:ext cx="268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96342"/>
            <a:ext cx="58782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Préparer features: Age, Sexe, Classe, Tarif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73582"/>
            <a:ext cx="268722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73582"/>
            <a:ext cx="2687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173582"/>
            <a:ext cx="58782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Entraîner modèle k-NN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67942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6794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767942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Évaluer: accuracy, precision, recall, F1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k-NN: Comment ça Marche?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234440" y="2148840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3465576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9544" y="2514600"/>
            <a:ext cx="274320" cy="27432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783080"/>
            <a:ext cx="274320" cy="2743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3611880"/>
            <a:ext cx="274320" cy="2743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85416" y="3977640"/>
            <a:ext cx="274320" cy="2743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834640"/>
            <a:ext cx="365760" cy="36576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0" y="2377440"/>
            <a:ext cx="1280160" cy="12801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7AE6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56616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Algorithme k-NN (k=3):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5303520" cy="84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les k=3 points les plus proches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majoritaire des k voisins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Prédiction: Classe majoritaire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Ici: 2 Survived + 1 Died → Predict: Survived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0114" y="3004457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Hyperparamètre k: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3331029"/>
            <a:ext cx="5303520" cy="509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buSzPct val="100000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k: Sensible au bruit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k: Lisse les prédictions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Typiquement: k=3 à k=5 (impair pour tie-breaking)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Critères de Rendu de l'Atelier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086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Code structuré et commenté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2011680"/>
            <a:ext cx="7086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Nettoyage des données complet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288036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051560" y="2834640"/>
            <a:ext cx="7086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Train/test split correctement appliqué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051560" y="3657600"/>
            <a:ext cx="7086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Modèle k-NN entraîné et testé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52628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051560" y="4480560"/>
            <a:ext cx="7086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Métriques d'évaluation calculées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534924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5" name="Text 18"/>
          <p:cNvSpPr/>
          <p:nvPr/>
        </p:nvSpPr>
        <p:spPr>
          <a:xfrm>
            <a:off x="640080" y="5349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1051560" y="5303520"/>
            <a:ext cx="7086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Format: Jupyter notebook (.ipynb)</a:t>
            </a:r>
            <a:endParaRPr lang="en-US" sz="1300" dirty="0"/>
          </a:p>
        </p:txBody>
      </p:sp>
      <p:pic>
        <p:nvPicPr>
          <p:cNvPr id="27" name="Image 5" descr="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53035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Récapitulatif: Points Clés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635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L'IA est omniprésente dans la technologie moderne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39112"/>
            <a:ext cx="228600" cy="2286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7635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Machine Learning et Deep Learning sont des sous-domaines distincts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228600" cy="2286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43200"/>
            <a:ext cx="7635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Python + Jupyter = stack standard du Data Scientist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20440"/>
            <a:ext cx="7635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Les données de qualité sont essentielles pour le succès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70832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297680"/>
            <a:ext cx="7635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Les algorithmes simples (k-NN) peuvent être très efficaces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148072"/>
            <a:ext cx="228600" cy="2286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074920"/>
            <a:ext cx="7635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L'évaluation rigoureuse est fondamentale pour la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Questions?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Babacar GUEYE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1565</Words>
  <Application>Microsoft Office PowerPoint</Application>
  <PresentationFormat>Affichage à l'écran (16:9)</PresentationFormat>
  <Paragraphs>462</Paragraphs>
  <Slides>41</Slides>
  <Notes>40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Courier New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Babacar Gueye</cp:lastModifiedBy>
  <cp:revision>31</cp:revision>
  <dcterms:created xsi:type="dcterms:W3CDTF">2026-03-23T20:02:09Z</dcterms:created>
  <dcterms:modified xsi:type="dcterms:W3CDTF">2026-03-24T10:24:01Z</dcterms:modified>
</cp:coreProperties>
</file>